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71" r:id="rId15"/>
    <p:sldId id="272" r:id="rId16"/>
    <p:sldId id="273" r:id="rId17"/>
    <p:sldId id="266" r:id="rId18"/>
    <p:sldId id="267" r:id="rId19"/>
    <p:sldId id="269" r:id="rId20"/>
    <p:sldId id="270" r:id="rId21"/>
    <p:sldId id="268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1" Type="http://schemas.openxmlformats.org/officeDocument/2006/relationships/notesSlide" Target="../notesSlides/notesSlide14.xml"/><Relationship Id="rId20" Type="http://schemas.openxmlformats.org/officeDocument/2006/relationships/slideLayout" Target="../slideLayouts/slideLayout1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7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550" dirty="0"/>
              <a:t>地震局</a:t>
            </a:r>
            <a:r>
              <a:rPr lang="zh-CN" altLang="en-US" sz="550" dirty="0"/>
              <a:t>地球所</a:t>
            </a:r>
            <a:endParaRPr lang="zh-CN" altLang="en-US" sz="5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731520"/>
            <a:ext cx="7132320" cy="43891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从自动编目到可信地震目录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03504" y="1261872"/>
            <a:ext cx="6217920" cy="36576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不确定性在地震监测中的作用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21792" y="1920240"/>
            <a:ext cx="713232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基于 Pg/Sg/Pn/Sn 自动拾取、SeismicXM 跨任务模型与不确定性感知定位框架的报告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16052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自动拾取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901952" y="4224528"/>
            <a:ext cx="45720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0604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416052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震相关联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776472" y="4224528"/>
            <a:ext cx="45720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48056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416052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概率定位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50992" y="4224528"/>
            <a:ext cx="45720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5508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8232" y="416052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目录筛选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25512" y="4224528"/>
            <a:ext cx="45720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97764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4160520"/>
            <a:ext cx="10058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1792" y="6172200"/>
            <a:ext cx="219456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SeismicX | 2026</a:t>
            </a:r>
            <a:endParaRPr lang="en-US" sz="800" dirty="0"/>
          </a:p>
        </p:txBody>
      </p:sp>
      <p:sp>
        <p:nvSpPr>
          <p:cNvPr id="23" name="Text 5"/>
          <p:cNvSpPr/>
          <p:nvPr/>
        </p:nvSpPr>
        <p:spPr>
          <a:xfrm>
            <a:off x="621665" y="2505075"/>
            <a:ext cx="2198370" cy="262255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50000"/>
          </a:bodyPr>
          <a:lstStyle/>
          <a:p>
            <a:pPr marL="0" indent="0" algn="l">
              <a:buNone/>
            </a:pPr>
            <a:r>
              <a:rPr lang="en-US" altLang="zh-CN" sz="2000" dirty="0">
                <a:solidFill>
                  <a:schemeClr val="bg1">
                    <a:lumMod val="50000"/>
                  </a:schemeClr>
                </a:solidFill>
              </a:rPr>
              <a:t>SeismicX</a:t>
            </a:r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</a:rPr>
              <a:t>团队：于子叶、蔡育埼、</a:t>
            </a:r>
            <a:r>
              <a:rPr lang="zh-CN" altLang="en-US" sz="2000" dirty="0">
                <a:solidFill>
                  <a:schemeClr val="bg1">
                    <a:lumMod val="50000"/>
                  </a:schemeClr>
                </a:solidFill>
              </a:rPr>
              <a:t>刘鑫</a:t>
            </a:r>
            <a:endParaRPr lang="zh-CN" alt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核心问题：目录变大以后，什么才算“可信”？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自动化把检测能力推到目录级规模，但误检、误关联和弱约束事件会进入后续解释。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128016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3–10×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856232"/>
            <a:ext cx="128016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自动检测常见目录扩容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128016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非高斯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68880" y="1856232"/>
            <a:ext cx="128016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真实到时残差与异常值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206240" y="1508760"/>
            <a:ext cx="146304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后验分布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06240" y="1856232"/>
            <a:ext cx="146304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从点估计转向事件可信度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903720" y="1371600"/>
            <a:ext cx="34290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1600200"/>
            <a:ext cx="2560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自动目录的风险链条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23760" y="2103120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8352" y="2029968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弱信号或噪声被拾取为震相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223760" y="248716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88352" y="2414016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P/S 或 Pg/Sg/Pn/Sn 误识别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223760" y="287121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88352" y="2798064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跨台站关联形成虚假事件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223760" y="3255264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8352" y="3182112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定位结果过度自信，污染断层解释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1520" y="4892040"/>
            <a:ext cx="9692640" cy="594360"/>
          </a:xfrm>
          <a:prstGeom prst="roundRect">
            <a:avLst>
              <a:gd name="adj" fmla="val 12308"/>
            </a:avLst>
          </a:prstGeom>
          <a:solidFill>
            <a:srgbClr val="FFF8EA"/>
          </a:solidFill>
          <a:ln w="7620">
            <a:solidFill>
              <a:srgbClr val="E8D4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5074920"/>
            <a:ext cx="918972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主线：不确定性不是“误差条装饰”，而是自动地震监测从“能检测”走向“可解释、可筛选、可追溯”的核心变量。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自动拾取：多震相模型把“输入端”做大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JGR:MLC 文章展示了面向全国连续波形的 Pg/Sg/Pn/Sn 自动拾取。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566928" y="1325880"/>
            <a:ext cx="644652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pic>
        <p:nvPicPr>
          <p:cNvPr id="8" name="Image 0" descr="/tmp/codex-presentations/manual-20260506-sage-trustworthy/paper_figures/jpg/jgr_architectur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08760"/>
            <a:ext cx="608076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5596128"/>
            <a:ext cx="576072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论文 Figure 1：CSNCD 数据与 Pg/Sg/Pn/Sn 拾取网络结构</a:t>
            </a:r>
            <a:endParaRPr lang="en-US" sz="580" dirty="0"/>
          </a:p>
        </p:txBody>
      </p:sp>
      <p:sp>
        <p:nvSpPr>
          <p:cNvPr id="10" name="Shape 7"/>
          <p:cNvSpPr/>
          <p:nvPr/>
        </p:nvSpPr>
        <p:spPr>
          <a:xfrm>
            <a:off x="7315200" y="1325880"/>
            <a:ext cx="3246120" cy="4526280"/>
          </a:xfrm>
          <a:prstGeom prst="roundRect">
            <a:avLst>
              <a:gd name="adj" fmla="val 2254"/>
            </a:avLst>
          </a:prstGeom>
          <a:solidFill>
            <a:srgbClr val="EEF6F6"/>
          </a:solidFill>
          <a:ln w="7620">
            <a:solidFill>
              <a:srgbClr val="C7DE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71232" y="1572768"/>
            <a:ext cx="2377440" cy="27432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5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重点</a:t>
            </a:r>
            <a:r>
              <a:rPr lang="en-US" sz="15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信息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571232" y="213055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35824" y="2057400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训练数据与连续流测试都来自全国台网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71232" y="26334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35824" y="2560320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长窗输入：102.40 s / 10,240 点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571232" y="31363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35824" y="3063240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编码器 + Bi-LSTM + 解码器逐点输出概率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571232" y="363931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35824" y="3566160"/>
            <a:ext cx="24871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自动拾取扩大目录入口，也把质量控制压力传给定位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543800" y="5166360"/>
            <a:ext cx="256032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CSNCD 测试集 F1：Pg 0.832、Sg 0.864、Pn 0.814、Sn 0.491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跨任务波形模型：从“一个任务一个模型”到统一表征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SeismicXM 将拾取、P 波初动极性与事件类型分类纳入同一单台波形基础模型。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594360" y="1207008"/>
            <a:ext cx="4846320" cy="489204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pic>
        <p:nvPicPr>
          <p:cNvPr id="8" name="Image 0" descr="/tmp/codex-presentations/manual-20260506-sage-trustworthy/paper_figures/jpg/xm_architectur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53312"/>
            <a:ext cx="3200400" cy="4434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5815584"/>
            <a:ext cx="438912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SeismicXM Figure 2：共享表征 + 任务嵌入 + 多任务解码</a:t>
            </a:r>
            <a:endParaRPr lang="en-US" sz="580" dirty="0"/>
          </a:p>
        </p:txBody>
      </p:sp>
      <p:sp>
        <p:nvSpPr>
          <p:cNvPr id="10" name="Shape 7"/>
          <p:cNvSpPr/>
          <p:nvPr/>
        </p:nvSpPr>
        <p:spPr>
          <a:xfrm>
            <a:off x="5806440" y="1207008"/>
            <a:ext cx="4572000" cy="4892040"/>
          </a:xfrm>
          <a:prstGeom prst="roundRect">
            <a:avLst>
              <a:gd name="adj" fmla="val 1600"/>
            </a:avLst>
          </a:prstGeom>
          <a:solidFill>
            <a:srgbClr val="EEF6F6"/>
          </a:solidFill>
          <a:ln w="7620">
            <a:solidFill>
              <a:srgbClr val="BFD8D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08192" y="1508760"/>
            <a:ext cx="2377440" cy="27432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为什么这张图重要？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144768" y="213055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09360" y="2057400"/>
            <a:ext cx="34015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左侧任务 ID 使模型知道当前任务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44768" y="26334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2560320"/>
            <a:ext cx="34015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中间主干提取三分量波形通用特征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44768" y="31363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09360" y="3063240"/>
            <a:ext cx="34015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双向 Transformer 利用前后文信息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44768" y="363931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09360" y="3566160"/>
            <a:ext cx="34015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底部解码器同时面向震相、极性、事件类型等输出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172200" y="4892040"/>
            <a:ext cx="109728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&gt;0.88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172200" y="5239512"/>
            <a:ext cx="10972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Pg/Sg F1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7360920" y="4892040"/>
            <a:ext cx="109728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&gt;0.97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360920" y="5239512"/>
            <a:ext cx="10972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极性 AUC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8549640" y="4892040"/>
            <a:ext cx="128016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~94%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549640" y="5239512"/>
            <a:ext cx="128016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事件分类准确率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瓶颈转移：自动化越强，定位阶段越像“可信度判别器”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拾取和关联之后，真正影响科学解释的是哪些事件被充分约束。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822960" y="173736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965960"/>
            <a:ext cx="123444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拾取误差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50976" y="2286000"/>
            <a:ext cx="1243584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到时偏移/漏检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377440" y="2176272"/>
            <a:ext cx="429768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80360" y="173736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965960"/>
            <a:ext cx="123444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关联错误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008376" y="2286000"/>
            <a:ext cx="1243584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P/S 错配、虚假事件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434840" y="2176272"/>
            <a:ext cx="429768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937760" y="173736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1965960"/>
            <a:ext cx="123444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速度模型偏差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65776" y="2286000"/>
            <a:ext cx="1243584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走时系统误差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92240" y="2176272"/>
            <a:ext cx="429768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95160" y="173736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1965960"/>
            <a:ext cx="1234440" cy="18288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台站几何不足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23176" y="2286000"/>
            <a:ext cx="1243584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方位空缺、深度弱约束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828800" y="3794760"/>
            <a:ext cx="7589520" cy="658368"/>
          </a:xfrm>
          <a:prstGeom prst="roundRect">
            <a:avLst>
              <a:gd name="adj" fmla="val 11111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57400" y="4023360"/>
            <a:ext cx="713232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可信地震目录 = 位置估计 + 不确定性校准 + 事件筛选准则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143000" y="5074920"/>
            <a:ext cx="9006840" cy="530352"/>
          </a:xfrm>
          <a:prstGeom prst="roundRect">
            <a:avLst>
              <a:gd name="adj" fmla="val 13793"/>
            </a:avLst>
          </a:prstGeom>
          <a:solidFill>
            <a:srgbClr val="FFF8EA"/>
          </a:solidFill>
          <a:ln w="7620">
            <a:solidFill>
              <a:srgbClr val="E8D4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53312" y="5257800"/>
            <a:ext cx="85496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概率定位回答两个问题：震源在哪里，以及这个事件是否足够可靠，能否进入结构解释。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概率定位框架：把异常观测降权，把不确定性显式输出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Toward Trustworthy Earthquake Catalogs 提出稳健贝叶斯定位 + 神经走时代理 + 后验筛选。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566928" y="1234440"/>
            <a:ext cx="539496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pic>
        <p:nvPicPr>
          <p:cNvPr id="8" name="Image 0" descr="/tmp/codex-presentations/manual-20260506-sage-trustworthy/paper_figures/jpg/trust_framework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4892040" cy="4480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5760720"/>
            <a:ext cx="480060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论文 Figure 1：不确定性感知定位与目录筛选框架</a:t>
            </a:r>
            <a:endParaRPr lang="en-US" sz="580" dirty="0"/>
          </a:p>
        </p:txBody>
      </p:sp>
      <p:sp>
        <p:nvSpPr>
          <p:cNvPr id="10" name="Shape 7"/>
          <p:cNvSpPr/>
          <p:nvPr/>
        </p:nvSpPr>
        <p:spPr>
          <a:xfrm>
            <a:off x="6263640" y="1234440"/>
            <a:ext cx="4160520" cy="4800600"/>
          </a:xfrm>
          <a:prstGeom prst="roundRect">
            <a:avLst>
              <a:gd name="adj" fmla="val 1758"/>
            </a:avLst>
          </a:prstGeom>
          <a:solidFill>
            <a:srgbClr val="FFF8EA"/>
          </a:solidFill>
          <a:ln w="7620">
            <a:solidFill>
              <a:srgbClr val="E8D4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65392" y="1554480"/>
            <a:ext cx="2560320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从原图读出的三步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583680" y="2221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48272" y="2148840"/>
            <a:ext cx="308152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自动拾取/关联产生候选事件，也产生离群到时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583680" y="28620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48272" y="2788920"/>
            <a:ext cx="308152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稳健贝叶斯模型用潜变量识别并降权异常观测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583680" y="350215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48272" y="3429000"/>
            <a:ext cx="308152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后验分布用于筛掉弱约束事件，保留更紧凑的目录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565392" y="5029200"/>
            <a:ext cx="329184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定位在这里不只是“求坐标”，而是目录可信度评估。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不确定性到底在量化什么？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它不是单一数值，而是数据、几何、模型与异常观测共同作用后的后验约束强度。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777240" y="1389888"/>
            <a:ext cx="457200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627632"/>
            <a:ext cx="237744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后验云团的形状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0" y="2971800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63557" y="3282128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89064" y="3310590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86914" y="3459627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8430" y="3188208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1629" y="2830142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00725" y="2635932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91128" y="2350594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05380" y="2601157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54155" y="2977716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43471" y="3272457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3830" y="3629599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3821" y="3404457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8196" y="3080071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52625" y="2773266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10448" y="2394248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1493" y="2556118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09583" y="2743395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67473" y="2992502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2829" y="3378411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58861" y="3331640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0520" y="3339326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88948" y="3171920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3185" y="2769015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0758" y="2671390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1404" y="2466945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13978" y="2570417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80387" y="2994337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01675" y="3215011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44130" y="3564061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17042" y="3494771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490670" y="3080245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73303" y="2807604"/>
            <a:ext cx="54864" cy="54864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31668" y="2388835"/>
            <a:ext cx="54864" cy="54864"/>
          </a:xfrm>
          <a:prstGeom prst="ellipse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45920" y="2971800"/>
            <a:ext cx="2743200" cy="0"/>
          </a:xfrm>
          <a:prstGeom prst="line">
            <a:avLst/>
          </a:prstGeom>
          <a:noFill/>
          <a:ln w="12700">
            <a:solidFill>
              <a:srgbClr val="B64B3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17520" y="2148840"/>
            <a:ext cx="0" cy="1600200"/>
          </a:xfrm>
          <a:prstGeom prst="line">
            <a:avLst/>
          </a:prstGeom>
          <a:noFill/>
          <a:ln w="12700">
            <a:solidFill>
              <a:srgbClr val="B64B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1560" y="4297680"/>
            <a:ext cx="3291840" cy="3200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窄：台站包围好、残差一致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宽/偏：几何差、模型错配或异常到时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080760" y="1389888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EEF6F6"/>
          </a:solidFill>
          <a:ln w="7620">
            <a:solidFill>
              <a:srgbClr val="C7DE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1627632"/>
            <a:ext cx="27432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可用于筛选的事件级指标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382512" y="2221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47104" y="2148840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空间后验体积 / 置信椭球大小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82512" y="2606040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47104" y="2532888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深度与水平位置边际不确定性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82512" y="299008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47104" y="2916936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离群观测概率与残差结构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382512" y="337413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3300984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对台站几何的敏感性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382512" y="3758184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47104" y="3685032"/>
            <a:ext cx="29443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不同保留率下的参考相对召回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目录筛选：不是只问“检测到了多少”，而是问“保留下来多少可信事件”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相位质量和距离、相位类型有关，定位阶段不能把所有到时等权处理。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85800" y="1261872"/>
            <a:ext cx="480060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pic>
        <p:nvPicPr>
          <p:cNvPr id="8" name="Image 0" descr="/tmp/codex-presentations/manual-20260506-sage-trustworthy/paper_figures/jpg/jgr_distance_perf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481328"/>
            <a:ext cx="4251960" cy="42062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5760720"/>
            <a:ext cx="4480560" cy="128016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JGR Figure 6：不同震相随震中距变化的 Precision / Recall / F1</a:t>
            </a:r>
            <a:endParaRPr lang="en-US" sz="580" dirty="0"/>
          </a:p>
        </p:txBody>
      </p:sp>
      <p:sp>
        <p:nvSpPr>
          <p:cNvPr id="10" name="Shape 7"/>
          <p:cNvSpPr/>
          <p:nvPr/>
        </p:nvSpPr>
        <p:spPr>
          <a:xfrm>
            <a:off x="5897880" y="1261872"/>
            <a:ext cx="4343400" cy="48006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99632" y="1572768"/>
            <a:ext cx="2743200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为什么要接入不确定性？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236208" y="2221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2148840"/>
            <a:ext cx="31729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Pg/Sg 在近距离表现最好，随距离衰减明显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236208" y="2788920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2715768"/>
            <a:ext cx="31729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Pn/Sn 的可靠距离段不同，Sn 整体更困难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236208" y="335584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3282696"/>
            <a:ext cx="31729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同一拾取器的错误结构不是常数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236208" y="392277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3849624"/>
            <a:ext cx="317296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定位阶段应吸收这种“非均匀质量”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从算法到解释：不确定性改变了地震目录的使用方式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可信目录的目标不是最大化点数，而是让保留事件更适合结构解释。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777240" y="160020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FFDF8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74520"/>
            <a:ext cx="201168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64B3E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自动编目思维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143000" y="25420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7592" y="246888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尽可能多地检测事件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43000" y="295351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07592" y="288036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阈值主要作用于拾取概率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43000" y="3364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7592" y="329184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定位给出单一最优点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43000" y="37764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07592" y="370332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后续解释被动承受污染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92040" y="3017520"/>
            <a:ext cx="82296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983480" y="2606040"/>
            <a:ext cx="640080" cy="54864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从数量扩张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到证据筛选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89320" y="160020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EEF6F6"/>
          </a:solidFill>
          <a:ln w="7620">
            <a:solidFill>
              <a:srgbClr val="BFD8D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874520"/>
            <a:ext cx="201168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可信目录思维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55080" y="25420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9672" y="246888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保留被充分约束的事件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55080" y="295351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9672" y="288036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筛选依据来自后验不确定性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336499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329184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异常观测可被概率降权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55080" y="37764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19672" y="3703320"/>
            <a:ext cx="26700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结构解释前先做质量控制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简化后的可信地震监测流程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把三篇文章压缩成一条面向业务和科研都可解释的流程。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85800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连续波形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台站数据流进入自动处理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258568" y="278892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715768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4368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44368" y="269748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智能拾取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44368" y="315468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Pg/Sg/Pn/Sn 与多任务波形信息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88536" y="278892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45736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74336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74336" y="269748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事件关联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74336" y="315468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跨台站把拾取组织成候选事件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318504" y="278892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75704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E9F5F2"/>
          </a:solidFill>
          <a:ln w="7620">
            <a:solidFill>
              <a:srgbClr val="8CBD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04304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04304" y="269748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概率定位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04304" y="315468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稳健后验估计位置与不确定性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348472" y="2788920"/>
            <a:ext cx="329184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805672" y="20116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34272" y="2240280"/>
            <a:ext cx="2743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034272" y="2697480"/>
            <a:ext cx="114300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目录筛选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034272" y="3154680"/>
            <a:ext cx="1097280" cy="34747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保留可解释、可追溯的可信事件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920240" y="572008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589381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关键变化：定位阶段不再只是“求坐标”，而是承担目录可信度评估与事件保留决策。</a:t>
            </a:r>
            <a:endParaRPr lang="en-US" sz="1150" dirty="0"/>
          </a:p>
        </p:txBody>
      </p:sp>
      <p:pic>
        <p:nvPicPr>
          <p:cNvPr id="33" name="图片 32" descr="541048f23aa4bbcfa5094f9571211ce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8325" y="3846830"/>
            <a:ext cx="2269490" cy="1701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落地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应用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面向地震学方向的落地</a:t>
            </a:r>
            <a:r>
              <a:rPr lang="zh-CN" altLang="en-US" sz="950" dirty="0">
                <a:solidFill>
                  <a:srgbClr val="59636F"/>
                </a:solidFill>
              </a:rPr>
              <a:t>应用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920240" y="59436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611733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关键变化：定位阶段不再只是“求坐标”，而是承担目录可信度评估与事件保留决策。</a:t>
            </a:r>
            <a:endParaRPr lang="en-US" sz="1150" dirty="0"/>
          </a:p>
        </p:txBody>
      </p:sp>
      <p:pic>
        <p:nvPicPr>
          <p:cNvPr id="33" name="图片 32"/>
          <p:cNvPicPr/>
          <p:nvPr/>
        </p:nvPicPr>
        <p:blipFill>
          <a:blip r:embed="rId1"/>
          <a:stretch>
            <a:fillRect/>
          </a:stretch>
        </p:blipFill>
        <p:spPr>
          <a:xfrm>
            <a:off x="502920" y="1394460"/>
            <a:ext cx="7263765" cy="4034790"/>
          </a:xfrm>
          <a:prstGeom prst="rect">
            <a:avLst/>
          </a:prstGeom>
        </p:spPr>
      </p:pic>
      <p:pic>
        <p:nvPicPr>
          <p:cNvPr id="34" name="图片 33"/>
          <p:cNvPicPr/>
          <p:nvPr/>
        </p:nvPicPr>
        <p:blipFill>
          <a:blip r:embed="rId2"/>
          <a:stretch>
            <a:fillRect/>
          </a:stretch>
        </p:blipFill>
        <p:spPr>
          <a:xfrm>
            <a:off x="7766685" y="1673225"/>
            <a:ext cx="4044950" cy="330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落地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应用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非地震学</a:t>
            </a:r>
            <a:r>
              <a:rPr lang="zh-CN" altLang="en-US" sz="950" dirty="0">
                <a:solidFill>
                  <a:srgbClr val="59636F"/>
                </a:solidFill>
              </a:rPr>
              <a:t>方向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920240" y="59436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611733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关键变化：定位阶段不再只是“求坐标”，而是承担目录可信度评估与事件保留决策。</a:t>
            </a:r>
            <a:endParaRPr lang="en-US" sz="115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94460"/>
            <a:ext cx="5765165" cy="3711575"/>
          </a:xfrm>
          <a:prstGeom prst="rect">
            <a:avLst/>
          </a:prstGeom>
        </p:spPr>
      </p:pic>
      <p:pic>
        <p:nvPicPr>
          <p:cNvPr id="8" name="图片 7" descr="4c5ad2bb1ce5888767fb82604f22a8ac"/>
          <p:cNvPicPr>
            <a:picLocks noChangeAspect="1"/>
          </p:cNvPicPr>
          <p:nvPr/>
        </p:nvPicPr>
        <p:blipFill>
          <a:blip r:embed="rId2"/>
          <a:srcRect l="34000" t="8876" r="18250"/>
          <a:stretch>
            <a:fillRect/>
          </a:stretch>
        </p:blipFill>
        <p:spPr>
          <a:xfrm>
            <a:off x="5970270" y="996315"/>
            <a:ext cx="5821680" cy="45764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落地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应用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59636F"/>
                </a:solidFill>
              </a:rPr>
              <a:t>非地震学</a:t>
            </a:r>
            <a:r>
              <a:rPr lang="zh-CN" altLang="en-US" sz="950" dirty="0">
                <a:solidFill>
                  <a:srgbClr val="59636F"/>
                </a:solidFill>
              </a:rPr>
              <a:t>方向</a:t>
            </a:r>
            <a:endParaRPr lang="zh-CN" altLang="en-US" sz="950" dirty="0">
              <a:solidFill>
                <a:srgbClr val="59636F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920240" y="59436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7212B"/>
          </a:solidFill>
          <a:ln w="7620">
            <a:solidFill>
              <a:srgbClr val="17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6117336"/>
            <a:ext cx="754380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 fontScale="90000" lnSpcReduction="20000"/>
          </a:bodyPr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国产化大模型</a:t>
            </a:r>
            <a:r>
              <a:rPr lang="zh-CN" altLang="en-US" sz="11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适配</a:t>
            </a:r>
            <a:endParaRPr lang="zh-CN" altLang="en-US" sz="1150" b="1" dirty="0">
              <a:solidFill>
                <a:srgbClr val="FFFFF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515" y="1939290"/>
            <a:ext cx="6205855" cy="276987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570" y="1724660"/>
            <a:ext cx="5853430" cy="31991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SAGE：把可信目录流程做成可对话、可执行、可追溯的系统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当前目录中的 SAGE 是面向地震学研究的 AI-Guided Engine。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pic>
        <p:nvPicPr>
          <p:cNvPr id="7" name="Image 0" descr="/Users/yuziye/Documents/GitHub/sage/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8560" y="5641975"/>
            <a:ext cx="3764280" cy="10604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154680"/>
            <a:ext cx="1097280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514600" y="1371600"/>
            <a:ext cx="740664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10" name="Shape 7"/>
          <p:cNvSpPr/>
          <p:nvPr>
            <p:custDataLst>
              <p:tags r:id="rId2"/>
            </p:custDataLst>
          </p:nvPr>
        </p:nvSpPr>
        <p:spPr>
          <a:xfrm>
            <a:off x="2788920" y="177165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11" name="Text 8"/>
          <p:cNvSpPr/>
          <p:nvPr>
            <p:custDataLst>
              <p:tags r:id="rId3"/>
            </p:custDataLst>
          </p:nvPr>
        </p:nvSpPr>
        <p:spPr>
          <a:xfrm>
            <a:off x="2935224" y="1847723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自然语言路由</a:t>
            </a:r>
            <a:endParaRPr lang="en-US" sz="1050" dirty="0"/>
          </a:p>
        </p:txBody>
      </p:sp>
      <p:sp>
        <p:nvSpPr>
          <p:cNvPr id="12" name="Text 9"/>
          <p:cNvSpPr/>
          <p:nvPr>
            <p:custDataLst>
              <p:tags r:id="rId4"/>
            </p:custDataLst>
          </p:nvPr>
        </p:nvSpPr>
        <p:spPr>
          <a:xfrm>
            <a:off x="2935224" y="2085467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知识问答 / 代码执行 / 对话自动分流</a:t>
            </a:r>
            <a:endParaRPr lang="en-US" sz="720" dirty="0"/>
          </a:p>
        </p:txBody>
      </p:sp>
      <p:sp>
        <p:nvSpPr>
          <p:cNvPr id="13" name="Shape 10"/>
          <p:cNvSpPr/>
          <p:nvPr>
            <p:custDataLst>
              <p:tags r:id="rId5"/>
            </p:custDataLst>
          </p:nvPr>
        </p:nvSpPr>
        <p:spPr>
          <a:xfrm>
            <a:off x="6217920" y="169164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8FBFA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14" name="Text 11"/>
          <p:cNvSpPr/>
          <p:nvPr>
            <p:custDataLst>
              <p:tags r:id="rId6"/>
            </p:custDataLst>
          </p:nvPr>
        </p:nvSpPr>
        <p:spPr>
          <a:xfrm>
            <a:off x="6364224" y="180136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震相拾取与关联</a:t>
            </a:r>
            <a:endParaRPr lang="en-US" sz="1050" dirty="0"/>
          </a:p>
        </p:txBody>
      </p:sp>
      <p:sp>
        <p:nvSpPr>
          <p:cNvPr id="15" name="Text 12"/>
          <p:cNvSpPr/>
          <p:nvPr>
            <p:custDataLst>
              <p:tags r:id="rId7"/>
            </p:custDataLst>
          </p:nvPr>
        </p:nvSpPr>
        <p:spPr>
          <a:xfrm>
            <a:off x="6364224" y="203911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PhaseNet、EQTransformer、FastLink、Gamma 等流程入口</a:t>
            </a:r>
            <a:endParaRPr lang="en-US" sz="720" dirty="0"/>
          </a:p>
        </p:txBody>
      </p:sp>
      <p:sp>
        <p:nvSpPr>
          <p:cNvPr id="16" name="Shape 13"/>
          <p:cNvSpPr/>
          <p:nvPr>
            <p:custDataLst>
              <p:tags r:id="rId8"/>
            </p:custDataLst>
          </p:nvPr>
        </p:nvSpPr>
        <p:spPr>
          <a:xfrm>
            <a:off x="2788920" y="265176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17" name="Text 14"/>
          <p:cNvSpPr/>
          <p:nvPr>
            <p:custDataLst>
              <p:tags r:id="rId9"/>
            </p:custDataLst>
          </p:nvPr>
        </p:nvSpPr>
        <p:spPr>
          <a:xfrm>
            <a:off x="2935224" y="276148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RAG 文献知识库</a:t>
            </a:r>
            <a:endParaRPr lang="en-US" sz="1050" dirty="0"/>
          </a:p>
        </p:txBody>
      </p:sp>
      <p:sp>
        <p:nvSpPr>
          <p:cNvPr id="18" name="Text 15"/>
          <p:cNvSpPr/>
          <p:nvPr>
            <p:custDataLst>
              <p:tags r:id="rId10"/>
            </p:custDataLst>
          </p:nvPr>
        </p:nvSpPr>
        <p:spPr>
          <a:xfrm>
            <a:off x="2935224" y="299923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BGE-M3 + FAISS，PDF 入库与多轮问答</a:t>
            </a:r>
            <a:endParaRPr lang="en-US" sz="720" dirty="0"/>
          </a:p>
        </p:txBody>
      </p:sp>
      <p:sp>
        <p:nvSpPr>
          <p:cNvPr id="19" name="Shape 16"/>
          <p:cNvSpPr/>
          <p:nvPr>
            <p:custDataLst>
              <p:tags r:id="rId11"/>
            </p:custDataLst>
          </p:nvPr>
        </p:nvSpPr>
        <p:spPr>
          <a:xfrm>
            <a:off x="6217920" y="265176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8FBFA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20" name="Text 17"/>
          <p:cNvSpPr/>
          <p:nvPr>
            <p:custDataLst>
              <p:tags r:id="rId12"/>
            </p:custDataLst>
          </p:nvPr>
        </p:nvSpPr>
        <p:spPr>
          <a:xfrm>
            <a:off x="6364224" y="276148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Code Engine</a:t>
            </a:r>
            <a:endParaRPr lang="en-US" sz="1050" dirty="0"/>
          </a:p>
        </p:txBody>
      </p:sp>
      <p:sp>
        <p:nvSpPr>
          <p:cNvPr id="21" name="Text 18"/>
          <p:cNvSpPr/>
          <p:nvPr>
            <p:custDataLst>
              <p:tags r:id="rId13"/>
            </p:custDataLst>
          </p:nvPr>
        </p:nvSpPr>
        <p:spPr>
          <a:xfrm>
            <a:off x="6364224" y="299923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生成 Python 代码，沙箱执行，串联地震工具包</a:t>
            </a:r>
            <a:endParaRPr lang="en-US" sz="720" dirty="0"/>
          </a:p>
        </p:txBody>
      </p:sp>
      <p:sp>
        <p:nvSpPr>
          <p:cNvPr id="22" name="Shape 19"/>
          <p:cNvSpPr/>
          <p:nvPr>
            <p:custDataLst>
              <p:tags r:id="rId14"/>
            </p:custDataLst>
          </p:nvPr>
        </p:nvSpPr>
        <p:spPr>
          <a:xfrm>
            <a:off x="2788920" y="361188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23" name="Text 20"/>
          <p:cNvSpPr/>
          <p:nvPr>
            <p:custDataLst>
              <p:tags r:id="rId15"/>
            </p:custDataLst>
          </p:nvPr>
        </p:nvSpPr>
        <p:spPr>
          <a:xfrm>
            <a:off x="2935224" y="372160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GMT 与可视化</a:t>
            </a:r>
            <a:endParaRPr lang="en-US" sz="1050" dirty="0"/>
          </a:p>
        </p:txBody>
      </p:sp>
      <p:sp>
        <p:nvSpPr>
          <p:cNvPr id="24" name="Text 21"/>
          <p:cNvSpPr/>
          <p:nvPr>
            <p:custDataLst>
              <p:tags r:id="rId16"/>
            </p:custDataLst>
          </p:nvPr>
        </p:nvSpPr>
        <p:spPr>
          <a:xfrm>
            <a:off x="2935224" y="395935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震中图、台站图、地形图、波形图可下载</a:t>
            </a:r>
            <a:endParaRPr lang="en-US" sz="720" dirty="0"/>
          </a:p>
        </p:txBody>
      </p:sp>
      <p:sp>
        <p:nvSpPr>
          <p:cNvPr id="25" name="Shape 22"/>
          <p:cNvSpPr/>
          <p:nvPr>
            <p:custDataLst>
              <p:tags r:id="rId17"/>
            </p:custDataLst>
          </p:nvPr>
        </p:nvSpPr>
        <p:spPr>
          <a:xfrm>
            <a:off x="6217920" y="3611880"/>
            <a:ext cx="3063240" cy="658368"/>
          </a:xfrm>
          <a:prstGeom prst="roundRect">
            <a:avLst>
              <a:gd name="adj" fmla="val 11111"/>
            </a:avLst>
          </a:prstGeom>
          <a:solidFill>
            <a:srgbClr val="F8FBFA"/>
          </a:solidFill>
          <a:ln w="7620">
            <a:solidFill>
              <a:srgbClr val="E1DDD2"/>
            </a:solidFill>
            <a:prstDash val="solid"/>
          </a:ln>
        </p:spPr>
      </p:sp>
      <p:sp>
        <p:nvSpPr>
          <p:cNvPr id="26" name="Text 23"/>
          <p:cNvSpPr/>
          <p:nvPr>
            <p:custDataLst>
              <p:tags r:id="rId18"/>
            </p:custDataLst>
          </p:nvPr>
        </p:nvSpPr>
        <p:spPr>
          <a:xfrm>
            <a:off x="6364224" y="3721608"/>
            <a:ext cx="16459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工作流系统</a:t>
            </a:r>
            <a:endParaRPr lang="en-US" sz="1050" dirty="0"/>
          </a:p>
        </p:txBody>
      </p:sp>
      <p:sp>
        <p:nvSpPr>
          <p:cNvPr id="27" name="Text 24"/>
          <p:cNvSpPr/>
          <p:nvPr>
            <p:custDataLst>
              <p:tags r:id="rId19"/>
            </p:custDataLst>
          </p:nvPr>
        </p:nvSpPr>
        <p:spPr>
          <a:xfrm>
            <a:off x="6364224" y="3959352"/>
            <a:ext cx="2560320" cy="146304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Markdown + DAG，多步分析自动调度与调试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放在最后：让复杂检测流程变成一次对话式报告生产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SAGE 的价值不是替代算法本身，而是把算法、数据、文献和可复现实验连接成闭环。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651052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7B756D"/>
                </a:solidFill>
              </a:rPr>
              <a:t>三篇论文与 SAGE 项目整理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691640"/>
            <a:ext cx="16459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研究者输入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87552" y="23134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2240280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上传 PDF 或目录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87552" y="281635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2743200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描述目标：拾取、定位、绘图、统计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87552" y="331927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3246120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授权数据工作目录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29000" y="3017520"/>
            <a:ext cx="100584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0" y="141732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EEF6F6"/>
          </a:solidFill>
          <a:ln w="7620">
            <a:solidFill>
              <a:srgbClr val="BFD8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691640"/>
            <a:ext cx="164592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编排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73752" y="23134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8344" y="2240280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LLM 意图路由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73752" y="2752344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8344" y="2679192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检索技能与文献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73752" y="319125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38344" y="3118104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调用代码/工具/工作流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73752" y="363016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38344" y="3557016"/>
            <a:ext cx="184708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自动生成图与中间结果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0" y="3017520"/>
            <a:ext cx="1005840" cy="0"/>
          </a:xfrm>
          <a:prstGeom prst="line">
            <a:avLst/>
          </a:prstGeom>
          <a:noFill/>
          <a:ln w="13970">
            <a:solidFill>
              <a:srgbClr val="C8872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458200" y="1417320"/>
            <a:ext cx="2103120" cy="32004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7620">
            <a:solidFill>
              <a:srgbClr val="DAD6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32520" y="1691640"/>
            <a:ext cx="1005840" cy="228600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输出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759952" y="2313432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24544" y="2240280"/>
            <a:ext cx="12984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可复现脚本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59952" y="2752344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24544" y="2679192"/>
            <a:ext cx="12984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图件与表格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759952" y="3191256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24544" y="3118104"/>
            <a:ext cx="12984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可信目录报告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3630168"/>
            <a:ext cx="50292" cy="50292"/>
          </a:xfrm>
          <a:prstGeom prst="ellipse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24544" y="3557016"/>
            <a:ext cx="1298448" cy="25603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后续追问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97280" y="5166360"/>
            <a:ext cx="9235440" cy="475488"/>
          </a:xfrm>
          <a:prstGeom prst="roundRect">
            <a:avLst>
              <a:gd name="adj" fmla="val 15385"/>
            </a:avLst>
          </a:prstGeom>
          <a:solidFill>
            <a:srgbClr val="FFF8EA"/>
          </a:solidFill>
          <a:ln w="7620">
            <a:solidFill>
              <a:srgbClr val="E8D4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5880" y="5330952"/>
            <a:ext cx="877824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B6B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在“可信目录”主题下，SAGE 可作为最后一公里：把自动拾取、概率定位、目录筛选和报告撰写整合为可审计的交互流程。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：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地震行业知识库</a:t>
            </a:r>
            <a:r>
              <a:rPr lang="en-US" altLang="zh-CN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+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地震技能</a:t>
            </a:r>
            <a:r>
              <a:rPr lang="en-US" altLang="zh-CN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+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本地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大模型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SAGE 的价值不是替代算法本身，而是把算法、数据、文献和可复现实验连接成闭环。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12</a:t>
            </a:r>
            <a:endParaRPr lang="en-US" sz="800" dirty="0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5915" y="1348105"/>
            <a:ext cx="8784590" cy="50984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：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报告自动产出、多因素地震风险</a:t>
            </a:r>
            <a:r>
              <a:rPr lang="zh-CN" altLang="en-US" sz="2200" b="1" dirty="0">
                <a:solidFill>
                  <a:srgbClr val="1721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分析</a:t>
            </a:r>
            <a:endParaRPr lang="zh-CN" altLang="en-US" sz="2200" b="1" dirty="0">
              <a:solidFill>
                <a:srgbClr val="17212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12064" y="777240"/>
            <a:ext cx="75895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9636F"/>
                </a:solidFill>
              </a:rPr>
              <a:t>SAGE 的价值不是替代算法本身，而是把算法、数据、文献和可复现实验连接成闭环。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33272"/>
            <a:ext cx="777240" cy="32004"/>
          </a:xfrm>
          <a:prstGeom prst="rect">
            <a:avLst/>
          </a:prstGeom>
          <a:solidFill>
            <a:srgbClr val="1B6B6F"/>
          </a:solidFill>
          <a:ln w="12700">
            <a:solidFill>
              <a:srgbClr val="1B6B6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</a:rPr>
              <a:t>12</a:t>
            </a:r>
            <a:endParaRPr lang="en-US" sz="800" dirty="0"/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1395" y="1298575"/>
            <a:ext cx="7061200" cy="531241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645920" cy="38404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41248" y="1261872"/>
            <a:ext cx="868680" cy="32004"/>
          </a:xfrm>
          <a:prstGeom prst="rect">
            <a:avLst/>
          </a:prstGeom>
          <a:solidFill>
            <a:srgbClr val="C8872B"/>
          </a:solidFill>
          <a:ln w="12700">
            <a:solidFill>
              <a:srgbClr val="C887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874520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263544"/>
          </a:solidFill>
          <a:ln w="7620">
            <a:solidFill>
              <a:srgbClr val="2635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029968"/>
            <a:ext cx="2743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874520" y="1993392"/>
            <a:ext cx="74980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自动化扩容解决了“看见更多事件”，但也引入了误检、误关联和弱约束事件。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51560" y="2697480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263544"/>
          </a:solidFill>
          <a:ln w="7620">
            <a:solidFill>
              <a:srgbClr val="2635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852928"/>
            <a:ext cx="2743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74520" y="2816352"/>
            <a:ext cx="74980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多震相拾取与 SeismicXM 提供更强的波形入口，可信目录仍需要定位阶段的不确定性判别。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3520440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263544"/>
          </a:solidFill>
          <a:ln w="7620">
            <a:solidFill>
              <a:srgbClr val="2635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675888"/>
            <a:ext cx="2743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874520" y="3639312"/>
            <a:ext cx="74980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后验不确定性可以成为事件筛选、目录保留和结构解释前质量控制的统一语言。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51560" y="4343400"/>
            <a:ext cx="8961120" cy="475488"/>
          </a:xfrm>
          <a:prstGeom prst="roundRect">
            <a:avLst>
              <a:gd name="adj" fmla="val 15385"/>
            </a:avLst>
          </a:prstGeom>
          <a:solidFill>
            <a:srgbClr val="263544"/>
          </a:solidFill>
          <a:ln w="7620">
            <a:solidFill>
              <a:srgbClr val="2635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4498848"/>
            <a:ext cx="27432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74520" y="4462272"/>
            <a:ext cx="7498080" cy="20116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SAGE 可把这一流程压缩成对话式、可执行、可追溯的研究生产链。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646920" y="5897880"/>
            <a:ext cx="1188720" cy="292608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C8872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292840" y="6446520"/>
            <a:ext cx="365760" cy="164592"/>
          </a:xfrm>
          <a:prstGeom prst="rect">
            <a:avLst/>
          </a:prstGeom>
          <a:noFill/>
        </p:spPr>
        <p:txBody>
          <a:bodyPr wrap="square" lIns="381" tIns="381" rIns="381" bIns="381" rtlCol="0" anchor="t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9636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2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3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4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5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6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7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8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9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0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1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2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3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4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5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6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7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ags/tag18.xml><?xml version="1.0" encoding="utf-8"?>
<p:tagLst xmlns:p="http://schemas.openxmlformats.org/presentationml/2006/main">
  <p:tag name="KSO_WM_DIAGRAM_VIRTUALLY_FRAME" val="{&quot;height&quot;:203.04000000000002,&quot;left&quot;:191.5,&quot;top&quot;:133.2,&quot;width&quot;:539.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3044</Words>
  <Application>WPS 演示</Application>
  <PresentationFormat>On-screen Show (16:9)</PresentationFormat>
  <Paragraphs>410</Paragraphs>
  <Slides>18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PingFang SC</vt:lpstr>
      <vt:lpstr>PingFang SC</vt:lpstr>
      <vt:lpstr>等线</vt:lpstr>
      <vt:lpstr>汉仪中等线KW</vt:lpstr>
      <vt:lpstr>微软雅黑</vt:lpstr>
      <vt:lpstr>汉仪旗黑</vt:lpstr>
      <vt:lpstr>宋体</vt:lpstr>
      <vt:lpstr>Arial Unicode MS</vt:lpstr>
      <vt:lpstr>Calibri</vt:lpstr>
      <vt:lpstr>Helvetica Neue</vt:lpstr>
      <vt:lpstr>汉仪书宋二KW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SAGE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从自动编目到可信地震目录</dc:title>
  <dc:creator>Codex</dc:creator>
  <dc:subject>可信地震目录报告</dc:subject>
  <cp:lastModifiedBy>沧夜</cp:lastModifiedBy>
  <cp:revision>7</cp:revision>
  <dcterms:created xsi:type="dcterms:W3CDTF">2026-05-07T06:49:50Z</dcterms:created>
  <dcterms:modified xsi:type="dcterms:W3CDTF">2026-05-07T06:49:50Z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2052-12.1.25869.25869</vt:lpwstr>
  </property>
  <property fmtid="{D5CDD505-2E9C-101B-9397-08002B2CF9AE}" pid="3" name="ICV">
    <vt:lpwstr>5F6F48332A61567623CBFA69102C2E41_42</vt:lpwstr>
  </property>
</Properties>
</file>