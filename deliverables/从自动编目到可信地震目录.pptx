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4.svg" ContentType="image/svg+xml"/>
  <Override PartName="/ppt/media/image26.svg" ContentType="image/svg+xml"/>
  <Override PartName="/ppt/media/image2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76" r:id="rId9"/>
    <p:sldId id="260" r:id="rId10"/>
    <p:sldId id="261" r:id="rId11"/>
    <p:sldId id="262" r:id="rId12"/>
    <p:sldId id="263" r:id="rId13"/>
    <p:sldId id="264" r:id="rId14"/>
    <p:sldId id="265" r:id="rId15"/>
    <p:sldId id="278" r:id="rId16"/>
    <p:sldId id="271" r:id="rId17"/>
    <p:sldId id="272" r:id="rId18"/>
    <p:sldId id="275" r:id="rId19"/>
    <p:sldId id="273" r:id="rId20"/>
    <p:sldId id="266" r:id="rId21"/>
    <p:sldId id="267" r:id="rId22"/>
    <p:sldId id="269" r:id="rId23"/>
    <p:sldId id="270" r:id="rId24"/>
    <p:sldId id="277" r:id="rId25"/>
    <p:sldId id="274" r:id="rId26"/>
    <p:sldId id="268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notesSlide" Target="../notesSlides/notesSlide11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6.jpeg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7" Type="http://schemas.openxmlformats.org/officeDocument/2006/relationships/notesSlide" Target="../notesSlides/notesSlide1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image" Target="../media/image10.jpeg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7" Type="http://schemas.openxmlformats.org/officeDocument/2006/relationships/notesSlide" Target="../notesSlides/notesSlide14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58.xml"/><Relationship Id="rId24" Type="http://schemas.openxmlformats.org/officeDocument/2006/relationships/tags" Target="../tags/tag57.xml"/><Relationship Id="rId23" Type="http://schemas.openxmlformats.org/officeDocument/2006/relationships/tags" Target="../tags/tag56.xml"/><Relationship Id="rId22" Type="http://schemas.openxmlformats.org/officeDocument/2006/relationships/tags" Target="../tags/tag55.xml"/><Relationship Id="rId21" Type="http://schemas.openxmlformats.org/officeDocument/2006/relationships/image" Target="../media/image14.png"/><Relationship Id="rId20" Type="http://schemas.openxmlformats.org/officeDocument/2006/relationships/tags" Target="../tags/tag54.xml"/><Relationship Id="rId2" Type="http://schemas.openxmlformats.org/officeDocument/2006/relationships/image" Target="../media/image9.png"/><Relationship Id="rId19" Type="http://schemas.openxmlformats.org/officeDocument/2006/relationships/tags" Target="../tags/tag53.xml"/><Relationship Id="rId18" Type="http://schemas.openxmlformats.org/officeDocument/2006/relationships/image" Target="../media/image13.jpeg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image" Target="../media/image12.png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image" Target="../media/image11.jpeg"/><Relationship Id="rId1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1" Type="http://schemas.openxmlformats.org/officeDocument/2006/relationships/notesSlide" Target="../notesSlides/notesSlide17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59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notesSlide" Target="../notesSlides/notesSlide2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9.png"/><Relationship Id="rId12" Type="http://schemas.openxmlformats.org/officeDocument/2006/relationships/image" Target="../media/image28.svg"/><Relationship Id="rId11" Type="http://schemas.openxmlformats.org/officeDocument/2006/relationships/image" Target="../media/image27.png"/><Relationship Id="rId10" Type="http://schemas.openxmlformats.org/officeDocument/2006/relationships/image" Target="../media/image26.svg"/><Relationship Id="rId1" Type="http://schemas.openxmlformats.org/officeDocument/2006/relationships/tags" Target="../tags/tag7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550" dirty="0"/>
              <a:t>地震局</a:t>
            </a:r>
            <a:r>
              <a:rPr lang="zh-CN" altLang="en-US" sz="550" dirty="0"/>
              <a:t>地球所</a:t>
            </a:r>
            <a:endParaRPr lang="zh-CN" alt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31520"/>
            <a:ext cx="7132320" cy="438912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从自动编目到可信地震目录</a:t>
            </a:r>
            <a:endParaRPr lang="en-US" sz="36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3504" y="1261872"/>
            <a:ext cx="6217920" cy="36576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不确定性在地震监测中的作用</a:t>
            </a:r>
            <a:endParaRPr lang="en-US" sz="32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7132320" cy="3200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基于 Pg/Sg/Pn/Sn 自动拾取、SeismicXM 跨任务模型与不确定性感知定位框架的报告</a:t>
            </a:r>
            <a:endParaRPr lang="en-US" sz="160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4987" y="4123690"/>
            <a:ext cx="1005840" cy="164592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自动拾取</a:t>
            </a:r>
            <a:endParaRPr lang="en-US" sz="16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82267" y="4187698"/>
            <a:ext cx="457200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06040" y="397764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9507" y="4123690"/>
            <a:ext cx="1005840" cy="164592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震相关联</a:t>
            </a:r>
            <a:endParaRPr lang="en-US" sz="16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56787" y="4187698"/>
            <a:ext cx="457200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80560" y="397764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4027" y="4123690"/>
            <a:ext cx="1005840" cy="164592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概率定位</a:t>
            </a:r>
            <a:endParaRPr lang="en-US" sz="16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31307" y="4187698"/>
            <a:ext cx="457200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55080" y="397764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8547" y="4123690"/>
            <a:ext cx="1005840" cy="164592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目录筛选</a:t>
            </a:r>
            <a:endParaRPr lang="en-US" sz="16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05827" y="4187698"/>
            <a:ext cx="457200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397764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3067" y="4123690"/>
            <a:ext cx="1005840" cy="164592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64B3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SAGE</a:t>
            </a:r>
            <a:endParaRPr lang="en-US" sz="1600" b="1" dirty="0">
              <a:solidFill>
                <a:srgbClr val="B64B3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1792" y="6172200"/>
            <a:ext cx="219456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SeismicX | 2026</a:t>
            </a:r>
            <a:endParaRPr lang="en-US" sz="800" dirty="0"/>
          </a:p>
        </p:txBody>
      </p:sp>
      <p:sp>
        <p:nvSpPr>
          <p:cNvPr id="23" name="Text 5"/>
          <p:cNvSpPr/>
          <p:nvPr/>
        </p:nvSpPr>
        <p:spPr>
          <a:xfrm>
            <a:off x="621665" y="2505075"/>
            <a:ext cx="6612255" cy="43815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SeismicX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团队：于子叶、蔡育埼、刘鑫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核心问题：目录变大以后，什么才算“可信”？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自动化把检测能力推到目录级规模，但误检、误关联和弱约束事件会进入后续解释。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280160" cy="3200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3–10×</a:t>
            </a:r>
            <a:endParaRPr lang="en-US" sz="28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128016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自动检测常见目录扩容</a:t>
            </a:r>
            <a:endParaRPr lang="en-US" sz="90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1280160" cy="3200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64B3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非高斯</a:t>
            </a:r>
            <a:endParaRPr lang="en-US" sz="2800" b="1" dirty="0">
              <a:solidFill>
                <a:srgbClr val="B64B3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68880" y="1856232"/>
            <a:ext cx="128016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真实到时残差与异常值</a:t>
            </a:r>
            <a:endParaRPr lang="en-US" sz="90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06240" y="1508760"/>
            <a:ext cx="1463040" cy="3200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后验分布</a:t>
            </a:r>
            <a:endParaRPr lang="en-US" sz="2800" b="1" dirty="0">
              <a:solidFill>
                <a:srgbClr val="C887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06240" y="1856232"/>
            <a:ext cx="146304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从点估计转向事件可信度</a:t>
            </a:r>
            <a:endParaRPr lang="en-US" sz="90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600200"/>
            <a:ext cx="2560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自动目录的风险链条</a:t>
            </a:r>
            <a:endParaRPr lang="en-US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223760" y="2103120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2029968"/>
            <a:ext cx="24871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弱信号或噪声被拾取为震相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23760" y="2487168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2414016"/>
            <a:ext cx="24871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P/S 或 Pg/Sg/Pn/Sn 误识别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223760" y="2871216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2798064"/>
            <a:ext cx="24871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跨台站关联形成虚假事件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23760" y="3255264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3182112"/>
            <a:ext cx="24871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定位结果过度自信，污染断层解释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1520" y="489204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FF8EA"/>
          </a:solidFill>
          <a:ln w="7620">
            <a:solidFill>
              <a:srgbClr val="E8D4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074920"/>
            <a:ext cx="918972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主线：不确定性不是“误差条装饰”，而是自动地震监测从“能检测”走向“可解释、可筛选、可追溯”的核心变量。</a:t>
            </a:r>
            <a:endParaRPr lang="en-US" sz="14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自动拾取：多震相模型把“输入端”做大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JGR:MLC 文章展示了面向全国连续波形的 Pg/Sg/Pn/Sn 自动拾取。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566928" y="1325880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pic>
        <p:nvPicPr>
          <p:cNvPr id="8" name="Image 0" descr="/tmp/codex-presentations/manual-20260506-sage-trustworthy/paper_figures/jpg/jgr_architectur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08760"/>
            <a:ext cx="608076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596128"/>
            <a:ext cx="5760720" cy="12801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论文 Figure 1：CSNCD 数据与 Pg/Sg/Pn/Sn 拾取网络结构</a:t>
            </a:r>
            <a:endParaRPr lang="en-US" sz="580" dirty="0"/>
          </a:p>
        </p:txBody>
      </p:sp>
      <p:sp>
        <p:nvSpPr>
          <p:cNvPr id="10" name="Shape 7"/>
          <p:cNvSpPr/>
          <p:nvPr/>
        </p:nvSpPr>
        <p:spPr>
          <a:xfrm>
            <a:off x="7315200" y="1325880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EEF6F6"/>
          </a:solidFill>
          <a:ln w="7620">
            <a:solidFill>
              <a:srgbClr val="C7DE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71232" y="1572768"/>
            <a:ext cx="2377440" cy="274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zh-CN" altLang="en-US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重点</a:t>
            </a:r>
            <a:r>
              <a:rPr lang="en-US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信息</a:t>
            </a:r>
            <a:endParaRPr lang="en-US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71232" y="213055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35824" y="2057400"/>
            <a:ext cx="24871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训练数据与连续流测试都来自全国台网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71232" y="263347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35824" y="2560320"/>
            <a:ext cx="24871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长窗输入：102.40 s / 10,240 点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571232" y="313639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35824" y="3063240"/>
            <a:ext cx="24871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编码器 + Bi-LSTM + 解码器逐点输出概率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71232" y="363931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35824" y="3566160"/>
            <a:ext cx="24871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自动拾取扩大目录入口，也把质量控制压力传给定位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543800" y="5166360"/>
            <a:ext cx="256032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64B3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CSNCD 测试集 F1：Pg 0.832、Sg 0.864、Pn 0.814、Sn 0.491</a:t>
            </a:r>
            <a:endParaRPr lang="en-US" sz="1200" b="1" dirty="0">
              <a:solidFill>
                <a:srgbClr val="B64B3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跨任务波形模型：从“一个任务一个模型”到统一表征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SeismicXM 将拾取、P 波初动极性与事件类型分类纳入同一单台波形基础模型。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46320" cy="489204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pic>
        <p:nvPicPr>
          <p:cNvPr id="8" name="Image 0" descr="/tmp/codex-presentations/manual-20260506-sage-trustworthy/paper_figures/jpg/xm_architectur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53312"/>
            <a:ext cx="320040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815584"/>
            <a:ext cx="4389120" cy="12801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SeismicXM Figure 2：共享表征 + 任务嵌入 + 多任务解码</a:t>
            </a:r>
            <a:endParaRPr lang="en-US" sz="580" dirty="0"/>
          </a:p>
        </p:txBody>
      </p:sp>
      <p:sp>
        <p:nvSpPr>
          <p:cNvPr id="10" name="Shape 7"/>
          <p:cNvSpPr/>
          <p:nvPr/>
        </p:nvSpPr>
        <p:spPr>
          <a:xfrm>
            <a:off x="5806440" y="1207008"/>
            <a:ext cx="4572000" cy="4892040"/>
          </a:xfrm>
          <a:prstGeom prst="roundRect">
            <a:avLst>
              <a:gd name="adj" fmla="val 1600"/>
            </a:avLst>
          </a:prstGeom>
          <a:solidFill>
            <a:srgbClr val="EEF6F6"/>
          </a:solidFill>
          <a:ln w="7620">
            <a:solidFill>
              <a:srgbClr val="BFD8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08192" y="1508760"/>
            <a:ext cx="2377440" cy="274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为什么这张图重要？</a:t>
            </a:r>
            <a:endParaRPr lang="en-US" sz="20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44768" y="213055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057400"/>
            <a:ext cx="34015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左侧任务 ID 使模型知道当前任务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44768" y="263347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560320"/>
            <a:ext cx="34015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中间主干提取三分量波形通用特征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144768" y="313639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3063240"/>
            <a:ext cx="34015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双向 Transformer 利用前后文信息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44768" y="363931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3566160"/>
            <a:ext cx="34015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底部解码器同时面向震相、极性、事件类型等输出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72200" y="4892040"/>
            <a:ext cx="1097280" cy="3200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&gt;0.88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172200" y="5239512"/>
            <a:ext cx="109728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Pg/Sg F1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360920" y="4892040"/>
            <a:ext cx="1097280" cy="3200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&gt;0.97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360920" y="5239512"/>
            <a:ext cx="109728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极性 AUC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549640" y="4892040"/>
            <a:ext cx="1280160" cy="3200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64B3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~94%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549640" y="5239512"/>
            <a:ext cx="128016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事件分类准确率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地震大模型：用于波形生成、地震监测、</a:t>
            </a:r>
            <a:r>
              <a:rPr lang="en-US" altLang="zh-CN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GPR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处理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等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SeismicXM </a:t>
            </a:r>
            <a:r>
              <a:rPr lang="zh-CN" altLang="en-US" sz="950" dirty="0">
                <a:solidFill>
                  <a:srgbClr val="59636F"/>
                </a:solidFill>
              </a:rPr>
              <a:t>的</a:t>
            </a:r>
            <a:r>
              <a:rPr lang="zh-CN" altLang="en-US" sz="950" dirty="0">
                <a:solidFill>
                  <a:srgbClr val="59636F"/>
                </a:solidFill>
              </a:rPr>
              <a:t>延伸</a:t>
            </a:r>
            <a:endParaRPr lang="zh-CN" altLang="en-US" sz="950" dirty="0">
              <a:solidFill>
                <a:srgbClr val="59636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822960" y="5815584"/>
            <a:ext cx="4389120" cy="12801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SeismicXM Figure 2：共享表征 + 任务嵌入 + 多任务解码</a:t>
            </a:r>
            <a:endParaRPr lang="en-US" sz="580" dirty="0"/>
          </a:p>
        </p:txBody>
      </p:sp>
      <p:pic>
        <p:nvPicPr>
          <p:cNvPr id="26" name="图片 25"/>
          <p:cNvPicPr/>
          <p:nvPr/>
        </p:nvPicPr>
        <p:blipFill>
          <a:blip r:embed="rId1"/>
          <a:stretch>
            <a:fillRect/>
          </a:stretch>
        </p:blipFill>
        <p:spPr>
          <a:xfrm>
            <a:off x="638175" y="1191260"/>
            <a:ext cx="10508615" cy="4832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瓶颈转移：自动化越强，定位阶段越像“可信度判别器”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拾取和关联之后，真正影响科学解释的是哪些事件被充分约束。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2057400" y="19837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2212340"/>
            <a:ext cx="123444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拾取误差</a:t>
            </a:r>
            <a:endParaRPr lang="en-US" sz="16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85416" y="2532380"/>
            <a:ext cx="1243584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到时偏移/漏检</a:t>
            </a:r>
            <a:endParaRPr lang="en-US" sz="105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11880" y="2422652"/>
            <a:ext cx="429768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0" y="19837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212340"/>
            <a:ext cx="123444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64B3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关联错误</a:t>
            </a:r>
            <a:endParaRPr lang="en-US" sz="1600" b="1" dirty="0">
              <a:solidFill>
                <a:srgbClr val="B64B3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42816" y="2532380"/>
            <a:ext cx="1243584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P/S 错配、虚假事件</a:t>
            </a:r>
            <a:endParaRPr lang="en-US" sz="105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69280" y="2422652"/>
            <a:ext cx="429768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19837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212340"/>
            <a:ext cx="123444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速度模型偏差</a:t>
            </a:r>
            <a:endParaRPr lang="en-US" sz="16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0216" y="2532380"/>
            <a:ext cx="1243584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走时系统误差</a:t>
            </a:r>
            <a:endParaRPr lang="en-US" sz="105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26680" y="2422652"/>
            <a:ext cx="429768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0" y="19837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212340"/>
            <a:ext cx="1234440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台站几何不足</a:t>
            </a:r>
            <a:endParaRPr lang="en-US" sz="16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57616" y="2532380"/>
            <a:ext cx="1243584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方位空缺、深度弱约束</a:t>
            </a:r>
            <a:endParaRPr lang="en-US" sz="105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828800" y="3794760"/>
            <a:ext cx="7589520" cy="658368"/>
          </a:xfrm>
          <a:prstGeom prst="roundRect">
            <a:avLst>
              <a:gd name="adj" fmla="val 11111"/>
            </a:avLst>
          </a:prstGeom>
          <a:solidFill>
            <a:srgbClr val="17212B"/>
          </a:solidFill>
          <a:ln w="7620">
            <a:solidFill>
              <a:srgbClr val="1721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4023360"/>
            <a:ext cx="713232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可信地震目录 = 位置估计 + 不确定性校准 + 事件筛选准则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43000" y="5074920"/>
            <a:ext cx="9006840" cy="530352"/>
          </a:xfrm>
          <a:prstGeom prst="roundRect">
            <a:avLst>
              <a:gd name="adj" fmla="val 13793"/>
            </a:avLst>
          </a:prstGeom>
          <a:solidFill>
            <a:srgbClr val="FFF8EA"/>
          </a:solidFill>
          <a:ln w="7620">
            <a:solidFill>
              <a:srgbClr val="E8D4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5257800"/>
            <a:ext cx="854964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概率定位回答两个问题：震源在哪里，以及这个事件是否足够可靠，能否进入结构解释。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概率定位框架：把异常观测降权，把不确定性显式输出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Toward Trustworthy Earthquake Catalogs 提出稳健贝叶斯定位 + 神经走时代理 + 后验筛选。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539496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pic>
        <p:nvPicPr>
          <p:cNvPr id="8" name="Image 0" descr="/tmp/codex-presentations/manual-20260506-sage-trustworthy/paper_figures/jpg/trust_framework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8920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760720"/>
            <a:ext cx="4800600" cy="12801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论文 Figure 1：不确定性感知定位与目录筛选框架</a:t>
            </a:r>
            <a:endParaRPr lang="en-US" sz="580" dirty="0"/>
          </a:p>
        </p:txBody>
      </p:sp>
      <p:sp>
        <p:nvSpPr>
          <p:cNvPr id="10" name="Shape 7"/>
          <p:cNvSpPr/>
          <p:nvPr/>
        </p:nvSpPr>
        <p:spPr>
          <a:xfrm>
            <a:off x="6263640" y="1234440"/>
            <a:ext cx="4160520" cy="4800600"/>
          </a:xfrm>
          <a:prstGeom prst="roundRect">
            <a:avLst>
              <a:gd name="adj" fmla="val 1758"/>
            </a:avLst>
          </a:prstGeom>
          <a:solidFill>
            <a:srgbClr val="FFF8EA"/>
          </a:solidFill>
          <a:ln w="7620">
            <a:solidFill>
              <a:srgbClr val="E8D4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1554480"/>
            <a:ext cx="2560320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定位</a:t>
            </a:r>
            <a:r>
              <a:rPr lang="en-US" sz="24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三步</a:t>
            </a:r>
            <a:r>
              <a:rPr lang="zh-CN" altLang="en-US" sz="24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策略</a:t>
            </a:r>
            <a:endParaRPr lang="zh-CN" altLang="en-US" sz="24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583680" y="222199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48272" y="2148840"/>
            <a:ext cx="308152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自动拾取/关联产生候选事件，也产生离群到时</a:t>
            </a:r>
            <a:endParaRPr lang="en-US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83680" y="286207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48272" y="2788920"/>
            <a:ext cx="308152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稳健贝叶斯模型用潜变量识别并降权异常观测</a:t>
            </a:r>
            <a:endParaRPr lang="en-US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83680" y="350215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48272" y="3429000"/>
            <a:ext cx="308152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后验分布用于筛掉弱约束事件，保留更紧凑的目录</a:t>
            </a:r>
            <a:endParaRPr lang="en-US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65392" y="5029200"/>
            <a:ext cx="3291840" cy="3200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定位在这里不只是“求坐标”，而是目录可信度评估。</a:t>
            </a:r>
            <a:r>
              <a:rPr lang="zh-CN" altLang="en-US" sz="12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并且不依赖于高精度速度</a:t>
            </a:r>
            <a:r>
              <a:rPr lang="zh-CN" altLang="en-US" sz="12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结构。</a:t>
            </a:r>
            <a:endParaRPr lang="zh-CN" altLang="en-US" sz="12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不确定性到底在量化什么？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它不是单一数值，而是数据、几何、模型与异常观测共同作用后的后验约束强度。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777240" y="1389888"/>
            <a:ext cx="4572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27632"/>
            <a:ext cx="237744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后验云团的形状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2971800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63557" y="3282128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9064" y="3310590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86914" y="3459627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8430" y="3188208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1629" y="2830142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00725" y="2635932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1128" y="2350594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5380" y="2601157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54155" y="2977716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3471" y="3272457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3830" y="3629599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63821" y="3404457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8196" y="3080071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52625" y="2773266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10448" y="2394248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1493" y="2556118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09583" y="2743395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67473" y="2992502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2829" y="3378411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58861" y="3331640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0520" y="3339326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88948" y="3171920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63185" y="2769015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0758" y="2671390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1404" y="2466945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13978" y="2570417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80387" y="2994337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01675" y="3215011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44130" y="3564061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17042" y="3494771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90670" y="3080245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73303" y="2807604"/>
            <a:ext cx="54864" cy="54864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31668" y="2388835"/>
            <a:ext cx="54864" cy="54864"/>
          </a:xfrm>
          <a:prstGeom prst="ellipse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45920" y="2971800"/>
            <a:ext cx="2743200" cy="0"/>
          </a:xfrm>
          <a:prstGeom prst="line">
            <a:avLst/>
          </a:prstGeom>
          <a:noFill/>
          <a:ln w="12700">
            <a:solidFill>
              <a:srgbClr val="B64B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2148840"/>
            <a:ext cx="0" cy="1600200"/>
          </a:xfrm>
          <a:prstGeom prst="line">
            <a:avLst/>
          </a:prstGeom>
          <a:noFill/>
          <a:ln w="12700">
            <a:solidFill>
              <a:srgbClr val="B64B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4297680"/>
            <a:ext cx="3291840" cy="3200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B64B3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窄：台站包围好、残差一致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B64B3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宽/偏：几何差、模型错配或异常到时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80760" y="1389888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EEF6F6"/>
          </a:solidFill>
          <a:ln w="7620">
            <a:solidFill>
              <a:srgbClr val="C7DE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1627632"/>
            <a:ext cx="274320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可用于筛选的事件级指标</a:t>
            </a:r>
            <a:endParaRPr lang="en-US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82512" y="222199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47104" y="2148840"/>
            <a:ext cx="29443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空间后验体积 / 置信椭球大小</a:t>
            </a:r>
            <a:endParaRPr lang="en-US" sz="12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82512" y="2606040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47104" y="2532888"/>
            <a:ext cx="29443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深度与水平位置边际不确定性</a:t>
            </a:r>
            <a:endParaRPr lang="en-US" sz="12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382512" y="2990088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47104" y="2916936"/>
            <a:ext cx="29443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离群观测概率与残差结构</a:t>
            </a:r>
            <a:endParaRPr lang="en-US" sz="12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382512" y="3374136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47104" y="3300984"/>
            <a:ext cx="29443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对台站几何的敏感性</a:t>
            </a:r>
            <a:endParaRPr lang="en-US" sz="12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382512" y="3758184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47104" y="3685032"/>
            <a:ext cx="29443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不同保留率下的参考相对召回</a:t>
            </a:r>
            <a:endParaRPr lang="en-US" sz="12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目录筛选：不是只问“检测到了多少”，而是问“保留下来多少可信事件”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相位质量和距离、相位类型有关，定位阶段不能把所有到时等权处理。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685800" y="1261872"/>
            <a:ext cx="480060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pic>
        <p:nvPicPr>
          <p:cNvPr id="8" name="Image 0" descr="/tmp/codex-presentations/manual-20260506-sage-trustworthy/paper_figures/jpg/jgr_distance_perf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1328"/>
            <a:ext cx="425196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760720"/>
            <a:ext cx="4480560" cy="12801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JGR Figure 6：不同震相随震中距变化的 Precision / Recall / F1</a:t>
            </a:r>
            <a:endParaRPr lang="en-US" sz="580" dirty="0"/>
          </a:p>
        </p:txBody>
      </p:sp>
      <p:sp>
        <p:nvSpPr>
          <p:cNvPr id="10" name="Shape 7"/>
          <p:cNvSpPr/>
          <p:nvPr/>
        </p:nvSpPr>
        <p:spPr>
          <a:xfrm>
            <a:off x="5897880" y="1261872"/>
            <a:ext cx="4343400" cy="48006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572768"/>
            <a:ext cx="2743200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为什么要接入不确定性？</a:t>
            </a:r>
            <a:endParaRPr lang="en-US" sz="20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36208" y="222199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148840"/>
            <a:ext cx="31729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Pg/Sg 在近距离表现最好，随距离衰减明显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36208" y="2788920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2715768"/>
            <a:ext cx="31729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Pn/Sn 的可靠距离段不同，Sn 整体更困难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36208" y="3355848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3282696"/>
            <a:ext cx="31729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同一拾取器的错误结构不是常数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36208" y="3922776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3849624"/>
            <a:ext cx="317296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定位阶段应吸收这种“非均匀质量”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从算法到解释：不确定性改变了地震目录的使用方式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可信目录的目标不是最大化点数，而是让保留事件更适合结构解释。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DF8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74520"/>
            <a:ext cx="201168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64B3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自动编目思维</a:t>
            </a:r>
            <a:endParaRPr lang="en-US" sz="2000" b="1" dirty="0">
              <a:solidFill>
                <a:srgbClr val="B64B3E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43000" y="254203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2468880"/>
            <a:ext cx="26700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尽可能多地检测事件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43000" y="295351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2880360"/>
            <a:ext cx="26700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阈值主要作用于拾取概率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43000" y="336499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3291840"/>
            <a:ext cx="26700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定位给出单一最优点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43000" y="377647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07592" y="3703320"/>
            <a:ext cx="26700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后续解释被动承受污染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92040" y="3017520"/>
            <a:ext cx="822960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724400" y="3136265"/>
            <a:ext cx="1098550" cy="5486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从数量扩张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到证据筛选</a:t>
            </a:r>
            <a:endParaRPr lang="en-US" sz="1600" b="1" dirty="0">
              <a:solidFill>
                <a:srgbClr val="C887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9320" y="160020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EF6F6"/>
          </a:solidFill>
          <a:ln w="7620">
            <a:solidFill>
              <a:srgbClr val="BFD8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874520"/>
            <a:ext cx="201168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可信目录思维</a:t>
            </a:r>
            <a:endParaRPr lang="en-US" sz="20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5080" y="254203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2468880"/>
            <a:ext cx="26700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保留被充分约束的事件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55080" y="295351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2880360"/>
            <a:ext cx="26700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筛选依据来自后验不确定性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336499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3291840"/>
            <a:ext cx="26700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异常观测可被概率降权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5080" y="377647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3703320"/>
            <a:ext cx="26700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结构解释前先做质量控制</a:t>
            </a:r>
            <a:endParaRPr lang="en-US" sz="16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简化后的可信地震监测流程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把三篇文章压缩成一条面向业务和科研都可解释的流程。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85800" y="201168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914400" y="224028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914400" y="2559050"/>
            <a:ext cx="114300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连续波形</a:t>
            </a:r>
            <a:endParaRPr lang="en-US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914400" y="3016250"/>
            <a:ext cx="109728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台站数据流进入自动处理</a:t>
            </a:r>
            <a:endParaRPr lang="en-US" sz="120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2258568" y="2650490"/>
            <a:ext cx="329184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2715768" y="201168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2944368" y="224028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2944368" y="2559050"/>
            <a:ext cx="114300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智能拾取</a:t>
            </a:r>
            <a:endParaRPr lang="en-US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2944368" y="3016250"/>
            <a:ext cx="109728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Pg/Sg/Pn/Sn 与多任务波形信息</a:t>
            </a:r>
            <a:endParaRPr lang="en-US" sz="120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4288536" y="2650490"/>
            <a:ext cx="329184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4745736" y="201168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4974336" y="224028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>
            <p:custDataLst>
              <p:tags r:id="rId13"/>
            </p:custDataLst>
          </p:nvPr>
        </p:nvSpPr>
        <p:spPr>
          <a:xfrm>
            <a:off x="4974336" y="2559050"/>
            <a:ext cx="114300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事件关联</a:t>
            </a:r>
            <a:endParaRPr lang="en-US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4974336" y="3016250"/>
            <a:ext cx="109728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跨台站把拾取组织成候选事件</a:t>
            </a:r>
            <a:endParaRPr lang="en-US" sz="120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5"/>
            </p:custDataLst>
          </p:nvPr>
        </p:nvSpPr>
        <p:spPr>
          <a:xfrm>
            <a:off x="6318504" y="2650490"/>
            <a:ext cx="329184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6775704" y="201168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E9F5F2"/>
          </a:solidFill>
          <a:ln w="7620">
            <a:solidFill>
              <a:srgbClr val="8CBDB7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7004304" y="224028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7004304" y="2559050"/>
            <a:ext cx="114300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概率定位</a:t>
            </a:r>
            <a:endParaRPr lang="en-US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19"/>
            </p:custDataLst>
          </p:nvPr>
        </p:nvSpPr>
        <p:spPr>
          <a:xfrm>
            <a:off x="7004304" y="3016250"/>
            <a:ext cx="109728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稳健后验估计位置与不确定性</a:t>
            </a:r>
            <a:endParaRPr lang="en-US" sz="120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6" name="Shape 24"/>
          <p:cNvSpPr/>
          <p:nvPr>
            <p:custDataLst>
              <p:tags r:id="rId20"/>
            </p:custDataLst>
          </p:nvPr>
        </p:nvSpPr>
        <p:spPr>
          <a:xfrm>
            <a:off x="8348472" y="2650490"/>
            <a:ext cx="329184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>
            <p:custDataLst>
              <p:tags r:id="rId21"/>
            </p:custDataLst>
          </p:nvPr>
        </p:nvSpPr>
        <p:spPr>
          <a:xfrm>
            <a:off x="8805672" y="201168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2"/>
            </p:custDataLst>
          </p:nvPr>
        </p:nvSpPr>
        <p:spPr>
          <a:xfrm>
            <a:off x="9034272" y="224028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>
            <p:custDataLst>
              <p:tags r:id="rId23"/>
            </p:custDataLst>
          </p:nvPr>
        </p:nvSpPr>
        <p:spPr>
          <a:xfrm>
            <a:off x="9034272" y="2559050"/>
            <a:ext cx="114300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目录筛选</a:t>
            </a:r>
            <a:endParaRPr lang="en-US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0" name="Text 28"/>
          <p:cNvSpPr/>
          <p:nvPr>
            <p:custDataLst>
              <p:tags r:id="rId24"/>
            </p:custDataLst>
          </p:nvPr>
        </p:nvSpPr>
        <p:spPr>
          <a:xfrm>
            <a:off x="9034272" y="3016250"/>
            <a:ext cx="109728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保留可解释、可追溯的可信事件</a:t>
            </a:r>
            <a:endParaRPr lang="en-US" sz="1200" dirty="0">
              <a:solidFill>
                <a:srgbClr val="5963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920240" y="57200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7212B"/>
          </a:solidFill>
          <a:ln w="7620">
            <a:solidFill>
              <a:srgbClr val="172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5893816"/>
            <a:ext cx="754380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关键变化：定位阶段不再只是“求坐标”，而是承担目录可信度评估与事件保留决策。</a:t>
            </a:r>
            <a:endParaRPr lang="en-US" sz="1150" dirty="0"/>
          </a:p>
        </p:txBody>
      </p:sp>
      <p:pic>
        <p:nvPicPr>
          <p:cNvPr id="33" name="图片 32" descr="541048f23aa4bbcfa5094f9571211ce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78325" y="3846830"/>
            <a:ext cx="2269490" cy="170180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775450" y="4437380"/>
            <a:ext cx="2566670" cy="34671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5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自主设计</a:t>
            </a:r>
            <a:r>
              <a:rPr lang="en-US" altLang="zh-CN" sz="15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4G</a:t>
            </a:r>
            <a:r>
              <a:rPr lang="zh-CN" altLang="en-US" sz="15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实时</a:t>
            </a:r>
            <a:r>
              <a:rPr lang="zh-CN" altLang="en-US" sz="15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地震计</a:t>
            </a:r>
            <a:endParaRPr lang="zh-CN" altLang="en-US" sz="1500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跨尺度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监测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把三篇文章压缩成一条面向业务和科研都可解释的流程。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2148840" y="27889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2377440" y="301752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2377440" y="3474720"/>
            <a:ext cx="1143000" cy="22860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实验室声发射</a:t>
            </a:r>
            <a:endParaRPr lang="zh-CN" altLang="en-US" sz="14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3721608" y="3566160"/>
            <a:ext cx="329184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4178808" y="27889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407408" y="301752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4407408" y="3474720"/>
            <a:ext cx="1143000" cy="22860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滑坡微地震</a:t>
            </a:r>
            <a:endParaRPr lang="zh-CN" altLang="en-US" sz="14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8"/>
            </p:custDataLst>
          </p:nvPr>
        </p:nvSpPr>
        <p:spPr>
          <a:xfrm>
            <a:off x="5751576" y="3566160"/>
            <a:ext cx="329184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>
            <p:custDataLst>
              <p:tags r:id="rId9"/>
            </p:custDataLst>
          </p:nvPr>
        </p:nvSpPr>
        <p:spPr>
          <a:xfrm>
            <a:off x="6208776" y="27889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6437376" y="301752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6437376" y="3474720"/>
            <a:ext cx="1143000" cy="22860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尾矿监测</a:t>
            </a:r>
            <a:endParaRPr lang="zh-CN" altLang="en-US" sz="14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2"/>
            </p:custDataLst>
          </p:nvPr>
        </p:nvSpPr>
        <p:spPr>
          <a:xfrm>
            <a:off x="7781544" y="3566160"/>
            <a:ext cx="329184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>
            <p:custDataLst>
              <p:tags r:id="rId13"/>
            </p:custDataLst>
          </p:nvPr>
        </p:nvSpPr>
        <p:spPr>
          <a:xfrm>
            <a:off x="8238744" y="278892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E9F5F2"/>
          </a:solidFill>
          <a:ln w="7620">
            <a:solidFill>
              <a:srgbClr val="8CBDB7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4"/>
            </p:custDataLst>
          </p:nvPr>
        </p:nvSpPr>
        <p:spPr>
          <a:xfrm>
            <a:off x="8467344" y="3017520"/>
            <a:ext cx="2743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7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8467344" y="3474720"/>
            <a:ext cx="1143000" cy="22860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区域尺度监测</a:t>
            </a:r>
            <a:endParaRPr lang="zh-CN" altLang="en-US" sz="14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920240" y="57200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7212B"/>
          </a:solidFill>
          <a:ln w="7620">
            <a:solidFill>
              <a:srgbClr val="172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5893816"/>
            <a:ext cx="754380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90000" lnSpcReduction="20000"/>
          </a:bodyPr>
          <a:lstStyle/>
          <a:p>
            <a:pPr marL="0" indent="0" algn="ctr">
              <a:buNone/>
            </a:pPr>
            <a:r>
              <a:rPr lang="zh-CN" altLang="en-US" sz="11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单一模型解决跨尺度</a:t>
            </a:r>
            <a:r>
              <a:rPr lang="zh-CN" altLang="en-US" sz="11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问题</a:t>
            </a:r>
            <a:endParaRPr lang="zh-CN" altLang="en-US" sz="1150" b="1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落地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应用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59636F"/>
                </a:solidFill>
              </a:rPr>
              <a:t>面向地震学方向的落地</a:t>
            </a:r>
            <a:r>
              <a:rPr lang="zh-CN" altLang="en-US" sz="950" dirty="0">
                <a:solidFill>
                  <a:srgbClr val="59636F"/>
                </a:solidFill>
              </a:rPr>
              <a:t>应用</a:t>
            </a:r>
            <a:endParaRPr lang="zh-CN" altLang="en-US" sz="950" dirty="0">
              <a:solidFill>
                <a:srgbClr val="59636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920240" y="59436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7212B"/>
          </a:solidFill>
          <a:ln w="7620">
            <a:solidFill>
              <a:srgbClr val="172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6117336"/>
            <a:ext cx="754380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关键变化：定位阶段不再只是“求坐标”，而是承担目录可信度评估与事件保留决策。</a:t>
            </a:r>
            <a:endParaRPr lang="en-US" sz="1150" dirty="0"/>
          </a:p>
        </p:txBody>
      </p:sp>
      <p:pic>
        <p:nvPicPr>
          <p:cNvPr id="33" name="图片 32"/>
          <p:cNvPicPr/>
          <p:nvPr/>
        </p:nvPicPr>
        <p:blipFill>
          <a:blip r:embed="rId1"/>
          <a:stretch>
            <a:fillRect/>
          </a:stretch>
        </p:blipFill>
        <p:spPr>
          <a:xfrm>
            <a:off x="502920" y="1394460"/>
            <a:ext cx="7263765" cy="4034790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2"/>
          <a:stretch>
            <a:fillRect/>
          </a:stretch>
        </p:blipFill>
        <p:spPr>
          <a:xfrm>
            <a:off x="7766685" y="1673225"/>
            <a:ext cx="404495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落地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应用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59636F"/>
                </a:solidFill>
              </a:rPr>
              <a:t>非地震学</a:t>
            </a:r>
            <a:r>
              <a:rPr lang="zh-CN" altLang="en-US" sz="950" dirty="0">
                <a:solidFill>
                  <a:srgbClr val="59636F"/>
                </a:solidFill>
              </a:rPr>
              <a:t>方向</a:t>
            </a:r>
            <a:endParaRPr lang="zh-CN" altLang="en-US" sz="950" dirty="0">
              <a:solidFill>
                <a:srgbClr val="59636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920240" y="59436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7212B"/>
          </a:solidFill>
          <a:ln w="7620">
            <a:solidFill>
              <a:srgbClr val="172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6117336"/>
            <a:ext cx="754380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关键变化：定位阶段不再只是“求坐标”，而是承担目录可信度评估与事件保留决策。</a:t>
            </a:r>
            <a:endParaRPr lang="en-US" sz="1150" dirty="0"/>
          </a:p>
        </p:txBody>
      </p:sp>
      <p:grpSp>
        <p:nvGrpSpPr>
          <p:cNvPr id="9" name="组合 8"/>
          <p:cNvGrpSpPr/>
          <p:nvPr/>
        </p:nvGrpSpPr>
        <p:grpSpPr>
          <a:xfrm>
            <a:off x="860425" y="1586865"/>
            <a:ext cx="4192270" cy="4097095"/>
            <a:chOff x="-132615" y="1474633"/>
            <a:chExt cx="2954655" cy="3147840"/>
          </a:xfrm>
        </p:grpSpPr>
        <p:grpSp>
          <p:nvGrpSpPr>
            <p:cNvPr id="10" name="组合 9"/>
            <p:cNvGrpSpPr/>
            <p:nvPr/>
          </p:nvGrpSpPr>
          <p:grpSpPr>
            <a:xfrm>
              <a:off x="174712" y="1474633"/>
              <a:ext cx="2340000" cy="1332649"/>
              <a:chOff x="36010" y="0"/>
              <a:chExt cx="3602994" cy="2237105"/>
            </a:xfrm>
          </p:grpSpPr>
          <p:pic>
            <p:nvPicPr>
              <p:cNvPr id="11" name="图片 10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94" y="0"/>
                <a:ext cx="3597910" cy="2237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" name="Freeform 12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36010" y="772432"/>
                <a:ext cx="3602990" cy="296545"/>
              </a:xfrm>
              <a:custGeom>
                <a:avLst/>
                <a:gdLst>
                  <a:gd name="T0" fmla="*/ 0 w 5674"/>
                  <a:gd name="T1" fmla="*/ 407 h 467"/>
                  <a:gd name="T2" fmla="*/ 147 w 5674"/>
                  <a:gd name="T3" fmla="*/ 307 h 467"/>
                  <a:gd name="T4" fmla="*/ 334 w 5674"/>
                  <a:gd name="T5" fmla="*/ 294 h 467"/>
                  <a:gd name="T6" fmla="*/ 534 w 5674"/>
                  <a:gd name="T7" fmla="*/ 387 h 467"/>
                  <a:gd name="T8" fmla="*/ 607 w 5674"/>
                  <a:gd name="T9" fmla="*/ 467 h 467"/>
                  <a:gd name="T10" fmla="*/ 727 w 5674"/>
                  <a:gd name="T11" fmla="*/ 387 h 467"/>
                  <a:gd name="T12" fmla="*/ 867 w 5674"/>
                  <a:gd name="T13" fmla="*/ 327 h 467"/>
                  <a:gd name="T14" fmla="*/ 1000 w 5674"/>
                  <a:gd name="T15" fmla="*/ 327 h 467"/>
                  <a:gd name="T16" fmla="*/ 1160 w 5674"/>
                  <a:gd name="T17" fmla="*/ 314 h 467"/>
                  <a:gd name="T18" fmla="*/ 1320 w 5674"/>
                  <a:gd name="T19" fmla="*/ 247 h 467"/>
                  <a:gd name="T20" fmla="*/ 1567 w 5674"/>
                  <a:gd name="T21" fmla="*/ 227 h 467"/>
                  <a:gd name="T22" fmla="*/ 1620 w 5674"/>
                  <a:gd name="T23" fmla="*/ 241 h 467"/>
                  <a:gd name="T24" fmla="*/ 1794 w 5674"/>
                  <a:gd name="T25" fmla="*/ 167 h 467"/>
                  <a:gd name="T26" fmla="*/ 2100 w 5674"/>
                  <a:gd name="T27" fmla="*/ 74 h 467"/>
                  <a:gd name="T28" fmla="*/ 2200 w 5674"/>
                  <a:gd name="T29" fmla="*/ 54 h 467"/>
                  <a:gd name="T30" fmla="*/ 2460 w 5674"/>
                  <a:gd name="T31" fmla="*/ 1 h 467"/>
                  <a:gd name="T32" fmla="*/ 2720 w 5674"/>
                  <a:gd name="T33" fmla="*/ 47 h 467"/>
                  <a:gd name="T34" fmla="*/ 2934 w 5674"/>
                  <a:gd name="T35" fmla="*/ 127 h 467"/>
                  <a:gd name="T36" fmla="*/ 3074 w 5674"/>
                  <a:gd name="T37" fmla="*/ 214 h 467"/>
                  <a:gd name="T38" fmla="*/ 3327 w 5674"/>
                  <a:gd name="T39" fmla="*/ 261 h 467"/>
                  <a:gd name="T40" fmla="*/ 3454 w 5674"/>
                  <a:gd name="T41" fmla="*/ 301 h 467"/>
                  <a:gd name="T42" fmla="*/ 3674 w 5674"/>
                  <a:gd name="T43" fmla="*/ 247 h 467"/>
                  <a:gd name="T44" fmla="*/ 3867 w 5674"/>
                  <a:gd name="T45" fmla="*/ 214 h 467"/>
                  <a:gd name="T46" fmla="*/ 4087 w 5674"/>
                  <a:gd name="T47" fmla="*/ 287 h 467"/>
                  <a:gd name="T48" fmla="*/ 4274 w 5674"/>
                  <a:gd name="T49" fmla="*/ 254 h 467"/>
                  <a:gd name="T50" fmla="*/ 4447 w 5674"/>
                  <a:gd name="T51" fmla="*/ 161 h 467"/>
                  <a:gd name="T52" fmla="*/ 4647 w 5674"/>
                  <a:gd name="T53" fmla="*/ 134 h 467"/>
                  <a:gd name="T54" fmla="*/ 4760 w 5674"/>
                  <a:gd name="T55" fmla="*/ 254 h 467"/>
                  <a:gd name="T56" fmla="*/ 4867 w 5674"/>
                  <a:gd name="T57" fmla="*/ 367 h 467"/>
                  <a:gd name="T58" fmla="*/ 5080 w 5674"/>
                  <a:gd name="T59" fmla="*/ 334 h 467"/>
                  <a:gd name="T60" fmla="*/ 5207 w 5674"/>
                  <a:gd name="T61" fmla="*/ 314 h 467"/>
                  <a:gd name="T62" fmla="*/ 5354 w 5674"/>
                  <a:gd name="T63" fmla="*/ 381 h 467"/>
                  <a:gd name="T64" fmla="*/ 5560 w 5674"/>
                  <a:gd name="T65" fmla="*/ 447 h 467"/>
                  <a:gd name="T66" fmla="*/ 5634 w 5674"/>
                  <a:gd name="T67" fmla="*/ 454 h 467"/>
                  <a:gd name="T68" fmla="*/ 5674 w 5674"/>
                  <a:gd name="T69" fmla="*/ 461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674" h="467">
                    <a:moveTo>
                      <a:pt x="0" y="407"/>
                    </a:moveTo>
                    <a:cubicBezTo>
                      <a:pt x="45" y="366"/>
                      <a:pt x="91" y="326"/>
                      <a:pt x="147" y="307"/>
                    </a:cubicBezTo>
                    <a:cubicBezTo>
                      <a:pt x="203" y="288"/>
                      <a:pt x="270" y="281"/>
                      <a:pt x="334" y="294"/>
                    </a:cubicBezTo>
                    <a:cubicBezTo>
                      <a:pt x="398" y="307"/>
                      <a:pt x="488" y="358"/>
                      <a:pt x="534" y="387"/>
                    </a:cubicBezTo>
                    <a:cubicBezTo>
                      <a:pt x="580" y="416"/>
                      <a:pt x="575" y="467"/>
                      <a:pt x="607" y="467"/>
                    </a:cubicBezTo>
                    <a:cubicBezTo>
                      <a:pt x="639" y="467"/>
                      <a:pt x="684" y="410"/>
                      <a:pt x="727" y="387"/>
                    </a:cubicBezTo>
                    <a:cubicBezTo>
                      <a:pt x="770" y="364"/>
                      <a:pt x="822" y="337"/>
                      <a:pt x="867" y="327"/>
                    </a:cubicBezTo>
                    <a:cubicBezTo>
                      <a:pt x="912" y="317"/>
                      <a:pt x="951" y="329"/>
                      <a:pt x="1000" y="327"/>
                    </a:cubicBezTo>
                    <a:cubicBezTo>
                      <a:pt x="1049" y="325"/>
                      <a:pt x="1107" y="327"/>
                      <a:pt x="1160" y="314"/>
                    </a:cubicBezTo>
                    <a:cubicBezTo>
                      <a:pt x="1213" y="301"/>
                      <a:pt x="1252" y="261"/>
                      <a:pt x="1320" y="247"/>
                    </a:cubicBezTo>
                    <a:cubicBezTo>
                      <a:pt x="1388" y="233"/>
                      <a:pt x="1517" y="228"/>
                      <a:pt x="1567" y="227"/>
                    </a:cubicBezTo>
                    <a:cubicBezTo>
                      <a:pt x="1617" y="226"/>
                      <a:pt x="1582" y="251"/>
                      <a:pt x="1620" y="241"/>
                    </a:cubicBezTo>
                    <a:cubicBezTo>
                      <a:pt x="1658" y="231"/>
                      <a:pt x="1714" y="195"/>
                      <a:pt x="1794" y="167"/>
                    </a:cubicBezTo>
                    <a:cubicBezTo>
                      <a:pt x="1874" y="139"/>
                      <a:pt x="2032" y="93"/>
                      <a:pt x="2100" y="74"/>
                    </a:cubicBezTo>
                    <a:cubicBezTo>
                      <a:pt x="2168" y="55"/>
                      <a:pt x="2140" y="66"/>
                      <a:pt x="2200" y="54"/>
                    </a:cubicBezTo>
                    <a:cubicBezTo>
                      <a:pt x="2260" y="42"/>
                      <a:pt x="2373" y="2"/>
                      <a:pt x="2460" y="1"/>
                    </a:cubicBezTo>
                    <a:cubicBezTo>
                      <a:pt x="2547" y="0"/>
                      <a:pt x="2641" y="26"/>
                      <a:pt x="2720" y="47"/>
                    </a:cubicBezTo>
                    <a:cubicBezTo>
                      <a:pt x="2799" y="68"/>
                      <a:pt x="2875" y="99"/>
                      <a:pt x="2934" y="127"/>
                    </a:cubicBezTo>
                    <a:cubicBezTo>
                      <a:pt x="2993" y="155"/>
                      <a:pt x="3009" y="192"/>
                      <a:pt x="3074" y="214"/>
                    </a:cubicBezTo>
                    <a:cubicBezTo>
                      <a:pt x="3139" y="236"/>
                      <a:pt x="3264" y="247"/>
                      <a:pt x="3327" y="261"/>
                    </a:cubicBezTo>
                    <a:cubicBezTo>
                      <a:pt x="3390" y="275"/>
                      <a:pt x="3396" y="303"/>
                      <a:pt x="3454" y="301"/>
                    </a:cubicBezTo>
                    <a:cubicBezTo>
                      <a:pt x="3512" y="299"/>
                      <a:pt x="3605" y="261"/>
                      <a:pt x="3674" y="247"/>
                    </a:cubicBezTo>
                    <a:cubicBezTo>
                      <a:pt x="3743" y="233"/>
                      <a:pt x="3798" y="207"/>
                      <a:pt x="3867" y="214"/>
                    </a:cubicBezTo>
                    <a:cubicBezTo>
                      <a:pt x="3936" y="221"/>
                      <a:pt x="4019" y="280"/>
                      <a:pt x="4087" y="287"/>
                    </a:cubicBezTo>
                    <a:cubicBezTo>
                      <a:pt x="4155" y="294"/>
                      <a:pt x="4214" y="275"/>
                      <a:pt x="4274" y="254"/>
                    </a:cubicBezTo>
                    <a:cubicBezTo>
                      <a:pt x="4334" y="233"/>
                      <a:pt x="4385" y="181"/>
                      <a:pt x="4447" y="161"/>
                    </a:cubicBezTo>
                    <a:cubicBezTo>
                      <a:pt x="4509" y="141"/>
                      <a:pt x="4595" y="118"/>
                      <a:pt x="4647" y="134"/>
                    </a:cubicBezTo>
                    <a:cubicBezTo>
                      <a:pt x="4699" y="150"/>
                      <a:pt x="4723" y="215"/>
                      <a:pt x="4760" y="254"/>
                    </a:cubicBezTo>
                    <a:cubicBezTo>
                      <a:pt x="4797" y="293"/>
                      <a:pt x="4814" y="354"/>
                      <a:pt x="4867" y="367"/>
                    </a:cubicBezTo>
                    <a:cubicBezTo>
                      <a:pt x="4920" y="380"/>
                      <a:pt x="5023" y="343"/>
                      <a:pt x="5080" y="334"/>
                    </a:cubicBezTo>
                    <a:cubicBezTo>
                      <a:pt x="5137" y="325"/>
                      <a:pt x="5161" y="306"/>
                      <a:pt x="5207" y="314"/>
                    </a:cubicBezTo>
                    <a:cubicBezTo>
                      <a:pt x="5253" y="322"/>
                      <a:pt x="5295" y="359"/>
                      <a:pt x="5354" y="381"/>
                    </a:cubicBezTo>
                    <a:cubicBezTo>
                      <a:pt x="5413" y="403"/>
                      <a:pt x="5513" y="435"/>
                      <a:pt x="5560" y="447"/>
                    </a:cubicBezTo>
                    <a:cubicBezTo>
                      <a:pt x="5607" y="459"/>
                      <a:pt x="5615" y="452"/>
                      <a:pt x="5634" y="454"/>
                    </a:cubicBezTo>
                    <a:cubicBezTo>
                      <a:pt x="5653" y="456"/>
                      <a:pt x="5669" y="459"/>
                      <a:pt x="5674" y="461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174712" y="3042381"/>
              <a:ext cx="2340000" cy="1332649"/>
              <a:chOff x="0" y="0"/>
              <a:chExt cx="3602990" cy="2247900"/>
            </a:xfrm>
          </p:grpSpPr>
          <p:pic>
            <p:nvPicPr>
              <p:cNvPr id="15" name="图片 14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602990" cy="2247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" name="椭圆 15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621302" y="557893"/>
                <a:ext cx="2261870" cy="67818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" name="Rectangle 1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1274" y="2807287"/>
              <a:ext cx="2646878" cy="2117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algn="ctr">
                <a:tabLst>
                  <a:tab pos="457200" algn="l"/>
                </a:tabLst>
              </a:pPr>
              <a:r>
                <a:rPr lang="zh-CN" altLang="en-US" sz="1200" dirty="0">
                  <a:latin typeface="等线" panose="02010600030101010101" pitchFamily="2" charset="-122"/>
                  <a:ea typeface="黑体" panose="02010609060101010101" charset="-122"/>
                  <a:cs typeface="Times New Roman" panose="02020503050405090304" pitchFamily="18" charset="0"/>
                </a:rPr>
                <a:t>衬砌厚度识别地质雷达检测典型图像</a:t>
              </a:r>
              <a:endParaRPr lang="zh-CN" altLang="en-US" sz="1200" dirty="0">
                <a:latin typeface="等线" panose="02010600030101010101" pitchFamily="2" charset="-122"/>
                <a:ea typeface="黑体" panose="02010609060101010101" charset="-122"/>
                <a:cs typeface="Times New Roman" panose="02020503050405090304" pitchFamily="18" charset="0"/>
              </a:endParaRPr>
            </a:p>
          </p:txBody>
        </p:sp>
        <p:sp>
          <p:nvSpPr>
            <p:cNvPr id="23" name="Rectangle 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-132615" y="4410734"/>
              <a:ext cx="2954655" cy="2117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algn="ctr">
                <a:tabLst>
                  <a:tab pos="457200" algn="l"/>
                </a:tabLst>
              </a:pPr>
              <a:r>
                <a:rPr lang="zh-CN" altLang="en-US" sz="1200" dirty="0">
                  <a:latin typeface="等线" panose="02010600030101010101" pitchFamily="2" charset="-122"/>
                  <a:ea typeface="黑体" panose="02010609060101010101" charset="-122"/>
                  <a:cs typeface="Times New Roman" panose="02020503050405090304" pitchFamily="18" charset="0"/>
                </a:rPr>
                <a:t>空洞（无钢筋段）地质雷达检测典型图像</a:t>
              </a:r>
              <a:endParaRPr lang="zh-CN" altLang="en-US" sz="1200" dirty="0">
                <a:latin typeface="等线" panose="02010600030101010101" pitchFamily="2" charset="-122"/>
                <a:ea typeface="黑体" panose="02010609060101010101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835400" y="1586865"/>
            <a:ext cx="4192270" cy="4102819"/>
            <a:chOff x="3252764" y="1474633"/>
            <a:chExt cx="2954655" cy="3152409"/>
          </a:xfrm>
        </p:grpSpPr>
        <p:grpSp>
          <p:nvGrpSpPr>
            <p:cNvPr id="17" name="组合 16"/>
            <p:cNvGrpSpPr/>
            <p:nvPr/>
          </p:nvGrpSpPr>
          <p:grpSpPr>
            <a:xfrm>
              <a:off x="3560091" y="1474633"/>
              <a:ext cx="2340000" cy="1332649"/>
              <a:chOff x="0" y="0"/>
              <a:chExt cx="3602990" cy="2318385"/>
            </a:xfrm>
          </p:grpSpPr>
          <p:pic>
            <p:nvPicPr>
              <p:cNvPr id="18" name="图片 17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602990" cy="23183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椭圆 18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109526" y="279672"/>
                <a:ext cx="1752600" cy="81534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3560091" y="3063622"/>
              <a:ext cx="2340000" cy="1332649"/>
              <a:chOff x="0" y="0"/>
              <a:chExt cx="3597910" cy="2470785"/>
            </a:xfrm>
          </p:grpSpPr>
          <p:pic>
            <p:nvPicPr>
              <p:cNvPr id="22" name="图片 21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597910" cy="24707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" name="Oval 11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 rot="1500000">
                <a:off x="782410" y="839652"/>
                <a:ext cx="1232535" cy="432435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" name="Rectangle 1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637485" y="2807281"/>
              <a:ext cx="2185215" cy="211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algn="ctr">
                <a:tabLst>
                  <a:tab pos="457200" algn="l"/>
                </a:tabLst>
              </a:pPr>
              <a:r>
                <a:rPr lang="zh-CN" altLang="en-US" sz="1200" dirty="0">
                  <a:latin typeface="等线" panose="02010600030101010101" pitchFamily="2" charset="-122"/>
                  <a:ea typeface="黑体" panose="02010609060101010101" charset="-122"/>
                  <a:cs typeface="Times New Roman" panose="02020503050405090304" pitchFamily="18" charset="0"/>
                </a:rPr>
                <a:t>不密实地质雷达检测典型图像</a:t>
              </a:r>
              <a:endParaRPr lang="zh-CN" altLang="en-US" sz="1200" dirty="0">
                <a:latin typeface="等线" panose="02010600030101010101" pitchFamily="2" charset="-122"/>
                <a:ea typeface="黑体" panose="02010609060101010101" charset="-122"/>
                <a:cs typeface="Times New Roman" panose="02020503050405090304" pitchFamily="18" charset="0"/>
              </a:endParaRPr>
            </a:p>
          </p:txBody>
        </p:sp>
        <p:sp>
          <p:nvSpPr>
            <p:cNvPr id="27" name="Rectangle 1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252764" y="4415292"/>
              <a:ext cx="2954655" cy="211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spAutoFit/>
            </a:bodyPr>
            <a:lstStyle/>
            <a:p>
              <a:pPr algn="ctr">
                <a:tabLst>
                  <a:tab pos="457200" algn="l"/>
                </a:tabLst>
              </a:pPr>
              <a:r>
                <a:rPr lang="zh-CN" altLang="en-US" sz="1200" dirty="0">
                  <a:latin typeface="等线" panose="02010600030101010101" pitchFamily="2" charset="-122"/>
                  <a:ea typeface="黑体" panose="02010609060101010101" charset="-122"/>
                  <a:cs typeface="Times New Roman" panose="02020503050405090304" pitchFamily="18" charset="0"/>
                </a:rPr>
                <a:t>空洞（有钢筋段）地质雷达检测典型图像</a:t>
              </a:r>
              <a:endParaRPr lang="zh-CN" altLang="en-US" sz="1200" dirty="0">
                <a:latin typeface="等线" panose="02010600030101010101" pitchFamily="2" charset="-122"/>
                <a:ea typeface="黑体" panose="02010609060101010101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481570" y="1607185"/>
            <a:ext cx="3319780" cy="1734185"/>
            <a:chOff x="0" y="0"/>
            <a:chExt cx="3597910" cy="2356485"/>
          </a:xfrm>
        </p:grpSpPr>
        <p:pic>
          <p:nvPicPr>
            <p:cNvPr id="29" name="图片 28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597910" cy="235648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" name="Line 14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1540057" y="27849"/>
              <a:ext cx="400050" cy="4953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" name="组合 24"/>
          <p:cNvGrpSpPr/>
          <p:nvPr/>
        </p:nvGrpSpPr>
        <p:grpSpPr>
          <a:xfrm>
            <a:off x="7481570" y="3655060"/>
            <a:ext cx="3319780" cy="1734185"/>
            <a:chOff x="0" y="0"/>
            <a:chExt cx="3597910" cy="2612299"/>
          </a:xfrm>
        </p:grpSpPr>
        <p:pic>
          <p:nvPicPr>
            <p:cNvPr id="35" name="图片 34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59599"/>
              <a:ext cx="3597910" cy="2552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" name="Line 13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H="1">
              <a:off x="796653" y="0"/>
              <a:ext cx="333375" cy="39624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Line 15"/>
            <p:cNvCxnSpPr>
              <a:cxnSpLocks noChangeShapeType="1"/>
            </p:cNvCxnSpPr>
            <p:nvPr>
              <p:custDataLst>
                <p:tags r:id="rId23"/>
              </p:custDataLst>
            </p:nvPr>
          </p:nvCxnSpPr>
          <p:spPr bwMode="auto">
            <a:xfrm flipH="1">
              <a:off x="2716349" y="1322342"/>
              <a:ext cx="333375" cy="39624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" name="文本框 45"/>
          <p:cNvSpPr txBox="1"/>
          <p:nvPr>
            <p:custDataLst>
              <p:tags r:id="rId24"/>
            </p:custDataLst>
          </p:nvPr>
        </p:nvSpPr>
        <p:spPr>
          <a:xfrm>
            <a:off x="7482205" y="3366135"/>
            <a:ext cx="3319145" cy="360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>
            <a:defPPr>
              <a:defRPr lang="zh-CN"/>
            </a:defPPr>
            <a:lvl1pPr marL="0" marR="0" lvl="0" indent="0" algn="ctr" defTabSz="914400" latinLnBrk="0">
              <a:lnSpc>
                <a:spcPct val="100000"/>
              </a:lnSpc>
              <a:buClrTx/>
              <a:buSzTx/>
              <a:buFontTx/>
              <a:buNone/>
              <a:tabLst>
                <a:tab pos="457200" algn="l"/>
              </a:tabLst>
              <a:defRPr kumimoji="0" sz="1200" b="0" i="0" u="none" strike="noStrike" cap="none" normalizeH="0" baseline="0">
                <a:ln>
                  <a:noFill/>
                </a:ln>
                <a:effectLst/>
                <a:latin typeface="等线" panose="02010600030101010101" pitchFamily="2" charset="-122"/>
                <a:ea typeface="黑体" panose="02010609060101010101" charset="-122"/>
                <a:cs typeface="Times New Roman" panose="02020503050405090304" pitchFamily="18" charset="0"/>
              </a:defRPr>
            </a:lvl1pPr>
            <a:lvl2pPr>
              <a:tabLst>
                <a:tab pos="457200" algn="l"/>
              </a:tabLst>
            </a:lvl2pPr>
            <a:lvl3pPr>
              <a:tabLst>
                <a:tab pos="457200" algn="l"/>
              </a:tabLst>
            </a:lvl3pPr>
            <a:lvl4pPr>
              <a:tabLst>
                <a:tab pos="457200" algn="l"/>
              </a:tabLst>
            </a:lvl4pPr>
            <a:lvl5pPr>
              <a:tabLst>
                <a:tab pos="457200" algn="l"/>
              </a:tabLst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lvl9pPr>
          </a:lstStyle>
          <a:p>
            <a:r>
              <a:rPr lang="zh-CN" altLang="zh-CN" dirty="0"/>
              <a:t>钢架判释地质雷达检测典型图像</a:t>
            </a:r>
            <a:endParaRPr lang="zh-CN" altLang="zh-CN" dirty="0"/>
          </a:p>
        </p:txBody>
      </p:sp>
      <p:sp>
        <p:nvSpPr>
          <p:cNvPr id="48" name="文本框 47"/>
          <p:cNvSpPr txBox="1"/>
          <p:nvPr>
            <p:custDataLst>
              <p:tags r:id="rId25"/>
            </p:custDataLst>
          </p:nvPr>
        </p:nvSpPr>
        <p:spPr>
          <a:xfrm>
            <a:off x="7591425" y="5394325"/>
            <a:ext cx="3319145" cy="360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>
            <a:defPPr>
              <a:defRPr lang="zh-CN"/>
            </a:defPPr>
            <a:lvl1pPr marL="0" marR="0" lvl="0" indent="0" algn="ctr" defTabSz="914400" latinLnBrk="0">
              <a:lnSpc>
                <a:spcPct val="100000"/>
              </a:lnSpc>
              <a:buClrTx/>
              <a:buSzTx/>
              <a:buFontTx/>
              <a:buNone/>
              <a:tabLst>
                <a:tab pos="457200" algn="l"/>
              </a:tabLst>
              <a:defRPr kumimoji="0" sz="1200" b="0" i="0" u="none" strike="noStrike" cap="none" normalizeH="0" baseline="0">
                <a:ln>
                  <a:noFill/>
                </a:ln>
                <a:effectLst/>
                <a:latin typeface="等线" panose="02010600030101010101" pitchFamily="2" charset="-122"/>
                <a:ea typeface="黑体" panose="02010609060101010101" charset="-122"/>
                <a:cs typeface="Times New Roman" panose="02020503050405090304" pitchFamily="18" charset="0"/>
              </a:defRPr>
            </a:lvl1pPr>
            <a:lvl2pPr>
              <a:tabLst>
                <a:tab pos="457200" algn="l"/>
              </a:tabLst>
            </a:lvl2pPr>
            <a:lvl3pPr>
              <a:tabLst>
                <a:tab pos="457200" algn="l"/>
              </a:tabLst>
            </a:lvl3pPr>
            <a:lvl4pPr>
              <a:tabLst>
                <a:tab pos="457200" algn="l"/>
              </a:tabLst>
            </a:lvl4pPr>
            <a:lvl5pPr>
              <a:tabLst>
                <a:tab pos="457200" algn="l"/>
              </a:tabLst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lvl9pPr>
          </a:lstStyle>
          <a:p>
            <a:r>
              <a:rPr lang="zh-CN" altLang="zh-CN" dirty="0"/>
              <a:t>钢筋判释地质雷达检测典型图像</a:t>
            </a:r>
            <a:endParaRPr lang="zh-CN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落地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应用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59636F"/>
                </a:solidFill>
              </a:rPr>
              <a:t>非地震学</a:t>
            </a:r>
            <a:r>
              <a:rPr lang="zh-CN" altLang="en-US" sz="950" dirty="0">
                <a:solidFill>
                  <a:srgbClr val="59636F"/>
                </a:solidFill>
              </a:rPr>
              <a:t>方向</a:t>
            </a:r>
            <a:endParaRPr lang="zh-CN" altLang="en-US" sz="950" dirty="0">
              <a:solidFill>
                <a:srgbClr val="59636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920240" y="59436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7212B"/>
          </a:solidFill>
          <a:ln w="7620">
            <a:solidFill>
              <a:srgbClr val="172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6117336"/>
            <a:ext cx="754380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关键变化：定位阶段不再只是“求坐标”，而是承担目录可信度评估与事件保留决策。</a:t>
            </a:r>
            <a:endParaRPr lang="en-US" sz="115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94460"/>
            <a:ext cx="5765165" cy="3711575"/>
          </a:xfrm>
          <a:prstGeom prst="rect">
            <a:avLst/>
          </a:prstGeom>
        </p:spPr>
      </p:pic>
      <p:pic>
        <p:nvPicPr>
          <p:cNvPr id="8" name="图片 7" descr="4c5ad2bb1ce5888767fb82604f22a8ac"/>
          <p:cNvPicPr>
            <a:picLocks noChangeAspect="1"/>
          </p:cNvPicPr>
          <p:nvPr/>
        </p:nvPicPr>
        <p:blipFill>
          <a:blip r:embed="rId2"/>
          <a:srcRect l="34000" t="8876" r="18250"/>
          <a:stretch>
            <a:fillRect/>
          </a:stretch>
        </p:blipFill>
        <p:spPr>
          <a:xfrm>
            <a:off x="5970270" y="996315"/>
            <a:ext cx="5821680" cy="45764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落地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应用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59636F"/>
                </a:solidFill>
              </a:rPr>
              <a:t>非地震学</a:t>
            </a:r>
            <a:r>
              <a:rPr lang="zh-CN" altLang="en-US" sz="950" dirty="0">
                <a:solidFill>
                  <a:srgbClr val="59636F"/>
                </a:solidFill>
              </a:rPr>
              <a:t>方向</a:t>
            </a:r>
            <a:endParaRPr lang="zh-CN" altLang="en-US" sz="950" dirty="0">
              <a:solidFill>
                <a:srgbClr val="59636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920240" y="59436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7212B"/>
          </a:solidFill>
          <a:ln w="7620">
            <a:solidFill>
              <a:srgbClr val="172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6117336"/>
            <a:ext cx="754380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90000" lnSpcReduction="20000"/>
          </a:bodyPr>
          <a:lstStyle/>
          <a:p>
            <a:pPr marL="0" indent="0" algn="ctr">
              <a:buNone/>
            </a:pPr>
            <a:r>
              <a:rPr lang="zh-CN" altLang="en-US" sz="11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国产化大模型</a:t>
            </a:r>
            <a:r>
              <a:rPr lang="zh-CN" altLang="en-US" sz="11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适配</a:t>
            </a:r>
            <a:endParaRPr lang="zh-CN" altLang="en-US" sz="1150" b="1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450" y="1426845"/>
            <a:ext cx="7979410" cy="43611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655" y="4319270"/>
            <a:ext cx="3291205" cy="14687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SAGE：把可信目录流程做成可对话、可执行、可追溯的系统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当前目录中的 SAGE 是面向地震学研究的 AI-Guided Engine。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pic>
        <p:nvPicPr>
          <p:cNvPr id="7" name="Image 0" descr="/Users/yuziye/Documents/GitHub/sage/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6460" y="5641975"/>
            <a:ext cx="4056380" cy="10604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1097280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SAGE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14600" y="1371600"/>
            <a:ext cx="74066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10" name="Shape 7"/>
          <p:cNvSpPr/>
          <p:nvPr>
            <p:custDataLst>
              <p:tags r:id="rId2"/>
            </p:custDataLst>
          </p:nvPr>
        </p:nvSpPr>
        <p:spPr>
          <a:xfrm>
            <a:off x="2788920" y="177165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7620">
            <a:solidFill>
              <a:srgbClr val="E1DDD2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2935224" y="1847723"/>
            <a:ext cx="16459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自然语言路由</a:t>
            </a:r>
            <a:endParaRPr lang="en-US" sz="1050" dirty="0"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2935224" y="2085467"/>
            <a:ext cx="2560320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知识问答 / 代码执行 / 对话自动分流</a:t>
            </a:r>
            <a:endParaRPr lang="en-US" sz="720" dirty="0"/>
          </a:p>
        </p:txBody>
      </p:sp>
      <p:sp>
        <p:nvSpPr>
          <p:cNvPr id="13" name="Shape 10"/>
          <p:cNvSpPr/>
          <p:nvPr>
            <p:custDataLst>
              <p:tags r:id="rId5"/>
            </p:custDataLst>
          </p:nvPr>
        </p:nvSpPr>
        <p:spPr>
          <a:xfrm>
            <a:off x="6217920" y="169164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8FBFA"/>
          </a:solidFill>
          <a:ln w="7620">
            <a:solidFill>
              <a:srgbClr val="E1DDD2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6364224" y="1801368"/>
            <a:ext cx="16459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震相拾取与关联</a:t>
            </a:r>
            <a:endParaRPr lang="en-US" sz="1050" dirty="0"/>
          </a:p>
        </p:txBody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6364224" y="2039112"/>
            <a:ext cx="2560320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PhaseNet、EQTransformer、FastLink、Gamma 等流程入口</a:t>
            </a:r>
            <a:endParaRPr lang="en-US" sz="720" dirty="0"/>
          </a:p>
        </p:txBody>
      </p:sp>
      <p:sp>
        <p:nvSpPr>
          <p:cNvPr id="16" name="Shape 13"/>
          <p:cNvSpPr/>
          <p:nvPr>
            <p:custDataLst>
              <p:tags r:id="rId8"/>
            </p:custDataLst>
          </p:nvPr>
        </p:nvSpPr>
        <p:spPr>
          <a:xfrm>
            <a:off x="2788920" y="265176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7620">
            <a:solidFill>
              <a:srgbClr val="E1DDD2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9"/>
            </p:custDataLst>
          </p:nvPr>
        </p:nvSpPr>
        <p:spPr>
          <a:xfrm>
            <a:off x="2935224" y="2761488"/>
            <a:ext cx="16459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RAG 文献知识库</a:t>
            </a:r>
            <a:endParaRPr lang="en-US" sz="1050" dirty="0"/>
          </a:p>
        </p:txBody>
      </p:sp>
      <p:sp>
        <p:nvSpPr>
          <p:cNvPr id="18" name="Text 15"/>
          <p:cNvSpPr/>
          <p:nvPr>
            <p:custDataLst>
              <p:tags r:id="rId10"/>
            </p:custDataLst>
          </p:nvPr>
        </p:nvSpPr>
        <p:spPr>
          <a:xfrm>
            <a:off x="2935224" y="2999232"/>
            <a:ext cx="2560320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BGE-M3 + FAISS，PDF 入库与多轮问答</a:t>
            </a:r>
            <a:endParaRPr lang="en-US" sz="720" dirty="0"/>
          </a:p>
        </p:txBody>
      </p:sp>
      <p:sp>
        <p:nvSpPr>
          <p:cNvPr id="19" name="Shape 16"/>
          <p:cNvSpPr/>
          <p:nvPr>
            <p:custDataLst>
              <p:tags r:id="rId11"/>
            </p:custDataLst>
          </p:nvPr>
        </p:nvSpPr>
        <p:spPr>
          <a:xfrm>
            <a:off x="6217920" y="265176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8FBFA"/>
          </a:solidFill>
          <a:ln w="7620">
            <a:solidFill>
              <a:srgbClr val="E1DDD2"/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2"/>
            </p:custDataLst>
          </p:nvPr>
        </p:nvSpPr>
        <p:spPr>
          <a:xfrm>
            <a:off x="6364224" y="2761488"/>
            <a:ext cx="16459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Code Engine</a:t>
            </a:r>
            <a:endParaRPr lang="en-US" sz="1050" dirty="0"/>
          </a:p>
        </p:txBody>
      </p:sp>
      <p:sp>
        <p:nvSpPr>
          <p:cNvPr id="21" name="Text 18"/>
          <p:cNvSpPr/>
          <p:nvPr>
            <p:custDataLst>
              <p:tags r:id="rId13"/>
            </p:custDataLst>
          </p:nvPr>
        </p:nvSpPr>
        <p:spPr>
          <a:xfrm>
            <a:off x="6364224" y="2999232"/>
            <a:ext cx="2560320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生成 Python 代码，沙箱执行，串联地震工具包</a:t>
            </a:r>
            <a:endParaRPr lang="en-US" sz="720" dirty="0"/>
          </a:p>
        </p:txBody>
      </p:sp>
      <p:sp>
        <p:nvSpPr>
          <p:cNvPr id="22" name="Shape 19"/>
          <p:cNvSpPr/>
          <p:nvPr>
            <p:custDataLst>
              <p:tags r:id="rId14"/>
            </p:custDataLst>
          </p:nvPr>
        </p:nvSpPr>
        <p:spPr>
          <a:xfrm>
            <a:off x="2788920" y="361188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7620">
            <a:solidFill>
              <a:srgbClr val="E1DDD2"/>
            </a:solidFill>
            <a:prstDash val="solid"/>
          </a:ln>
        </p:spPr>
      </p:sp>
      <p:sp>
        <p:nvSpPr>
          <p:cNvPr id="23" name="Text 20"/>
          <p:cNvSpPr/>
          <p:nvPr>
            <p:custDataLst>
              <p:tags r:id="rId15"/>
            </p:custDataLst>
          </p:nvPr>
        </p:nvSpPr>
        <p:spPr>
          <a:xfrm>
            <a:off x="2935224" y="3721608"/>
            <a:ext cx="16459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GMT 与可视化</a:t>
            </a:r>
            <a:endParaRPr lang="en-US" sz="1050" dirty="0"/>
          </a:p>
        </p:txBody>
      </p:sp>
      <p:sp>
        <p:nvSpPr>
          <p:cNvPr id="24" name="Text 21"/>
          <p:cNvSpPr/>
          <p:nvPr>
            <p:custDataLst>
              <p:tags r:id="rId16"/>
            </p:custDataLst>
          </p:nvPr>
        </p:nvSpPr>
        <p:spPr>
          <a:xfrm>
            <a:off x="2935224" y="3959352"/>
            <a:ext cx="2560320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震中图、台站图、地形图、波形图可下载</a:t>
            </a:r>
            <a:endParaRPr lang="en-US" sz="720" dirty="0"/>
          </a:p>
        </p:txBody>
      </p:sp>
      <p:sp>
        <p:nvSpPr>
          <p:cNvPr id="25" name="Shape 22"/>
          <p:cNvSpPr/>
          <p:nvPr>
            <p:custDataLst>
              <p:tags r:id="rId17"/>
            </p:custDataLst>
          </p:nvPr>
        </p:nvSpPr>
        <p:spPr>
          <a:xfrm>
            <a:off x="6217920" y="361188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8FBFA"/>
          </a:solidFill>
          <a:ln w="7620">
            <a:solidFill>
              <a:srgbClr val="E1DDD2"/>
            </a:solidFill>
            <a:prstDash val="solid"/>
          </a:ln>
        </p:spPr>
      </p:sp>
      <p:sp>
        <p:nvSpPr>
          <p:cNvPr id="26" name="Text 23"/>
          <p:cNvSpPr/>
          <p:nvPr>
            <p:custDataLst>
              <p:tags r:id="rId18"/>
            </p:custDataLst>
          </p:nvPr>
        </p:nvSpPr>
        <p:spPr>
          <a:xfrm>
            <a:off x="6364224" y="3721608"/>
            <a:ext cx="16459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工作流系统</a:t>
            </a:r>
            <a:endParaRPr lang="en-US" sz="1050" dirty="0"/>
          </a:p>
        </p:txBody>
      </p:sp>
      <p:sp>
        <p:nvSpPr>
          <p:cNvPr id="27" name="Text 24"/>
          <p:cNvSpPr/>
          <p:nvPr>
            <p:custDataLst>
              <p:tags r:id="rId19"/>
            </p:custDataLst>
          </p:nvPr>
        </p:nvSpPr>
        <p:spPr>
          <a:xfrm>
            <a:off x="6364224" y="3959352"/>
            <a:ext cx="2560320" cy="146304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Markdown + DAG，多步分析自动调度与调试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SAGE 放在最后：让复杂检测流程变成一次对话式报告生产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SAGE 的价值不是替代算法本身，而是把算法、数据、文献和可复现实验连接成闭环。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7B756D"/>
                </a:solidFill>
              </a:rPr>
              <a:t>三篇论文与 SAGE 项目整理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91640"/>
            <a:ext cx="16459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研究者输入</a:t>
            </a:r>
            <a:endParaRPr lang="en-US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87552" y="231343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240280"/>
            <a:ext cx="184708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上传 PDF 或目录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87552" y="281635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2743200"/>
            <a:ext cx="184708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描述目标：拾取、定位、绘图、统计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87552" y="331927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246120"/>
            <a:ext cx="184708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授权数据工作目录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29000" y="3017520"/>
            <a:ext cx="1005840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14173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EF6F6"/>
          </a:solidFill>
          <a:ln w="7620">
            <a:solidFill>
              <a:srgbClr val="BFD8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91640"/>
            <a:ext cx="164592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SAGE 编排</a:t>
            </a:r>
            <a:endParaRPr lang="en-US" b="1" dirty="0">
              <a:solidFill>
                <a:srgbClr val="1B6B6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3752" y="231343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8344" y="2240280"/>
            <a:ext cx="184708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LLM 意图路由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3752" y="2752344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2679192"/>
            <a:ext cx="184708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检索技能与文献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3752" y="3191256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8344" y="3118104"/>
            <a:ext cx="184708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调用代码/工具/工作流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3752" y="3630168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38344" y="3557016"/>
            <a:ext cx="184708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自动生成图与中间结果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15200" y="3017520"/>
            <a:ext cx="1005840" cy="0"/>
          </a:xfrm>
          <a:prstGeom prst="line">
            <a:avLst/>
          </a:prstGeom>
          <a:noFill/>
          <a:ln w="13970">
            <a:solidFill>
              <a:srgbClr val="C8872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58200" y="141732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7620">
            <a:solidFill>
              <a:srgbClr val="DAD6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1691640"/>
            <a:ext cx="1005840" cy="2286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输出</a:t>
            </a:r>
            <a:endParaRPr lang="en-US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759952" y="2313432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24544" y="2240280"/>
            <a:ext cx="12984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可复现脚本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759952" y="2752344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24544" y="2679192"/>
            <a:ext cx="12984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图件与表格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759952" y="3191256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24544" y="3118104"/>
            <a:ext cx="12984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可信目录报告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759952" y="3630168"/>
            <a:ext cx="50292" cy="50292"/>
          </a:xfrm>
          <a:prstGeom prst="ellipse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24544" y="3557016"/>
            <a:ext cx="1298448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后续追问</a:t>
            </a:r>
            <a:endParaRPr lang="en-US" sz="1400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97280" y="5166360"/>
            <a:ext cx="9235440" cy="475488"/>
          </a:xfrm>
          <a:prstGeom prst="roundRect">
            <a:avLst>
              <a:gd name="adj" fmla="val 15385"/>
            </a:avLst>
          </a:prstGeom>
          <a:solidFill>
            <a:srgbClr val="FFF8EA"/>
          </a:solidFill>
          <a:ln w="7620">
            <a:solidFill>
              <a:srgbClr val="E8D4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5330952"/>
            <a:ext cx="877824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B6B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在“可信目录”主题下，SAGE 可作为最后一公里：把自动拾取、概率定位、目录筛选和报告撰写整合为可审计的交互流程。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SAGE ：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地震行业知识库</a:t>
            </a:r>
            <a:r>
              <a:rPr lang="en-US" altLang="zh-CN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+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地震技能</a:t>
            </a:r>
            <a:r>
              <a:rPr lang="en-US" altLang="zh-CN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+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本地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大模型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SAGE 的价值不是替代算法本身，而是把算法、数据、文献和可复现实验连接成闭环。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12</a:t>
            </a:r>
            <a:endParaRPr lang="en-US" sz="8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1348105"/>
            <a:ext cx="8784590" cy="50984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SAGE ：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报告自动产出、多因素地震风险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分析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36F"/>
                </a:solidFill>
              </a:rPr>
              <a:t>SAGE 的价值不是替代算法本身，而是把算法、数据、文献和可复现实验连接成闭环。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12</a:t>
            </a:r>
            <a:endParaRPr lang="en-US" sz="80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1395" y="1298575"/>
            <a:ext cx="7061200" cy="53124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全球首个连续数据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测试集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59636F"/>
                </a:solidFill>
              </a:rPr>
              <a:t>面向真实部署</a:t>
            </a:r>
            <a:r>
              <a:rPr lang="zh-CN" altLang="en-US" sz="950" dirty="0">
                <a:solidFill>
                  <a:srgbClr val="59636F"/>
                </a:solidFill>
              </a:rPr>
              <a:t>场景</a:t>
            </a:r>
            <a:endParaRPr lang="zh-CN" altLang="en-US" sz="950" dirty="0">
              <a:solidFill>
                <a:srgbClr val="59636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12</a:t>
            </a:r>
            <a:endParaRPr lang="en-US" sz="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4450" y="1548765"/>
            <a:ext cx="7391400" cy="48977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技术</a:t>
            </a:r>
            <a:r>
              <a:rPr lang="zh-CN" altLang="en-US" sz="2200" b="1" dirty="0">
                <a:solidFill>
                  <a:srgbClr val="1721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愿景</a:t>
            </a:r>
            <a:endParaRPr lang="zh-CN" altLang="en-US" sz="2200" b="1" dirty="0">
              <a:solidFill>
                <a:srgbClr val="17212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064" y="777240"/>
            <a:ext cx="7589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59636F"/>
                </a:solidFill>
              </a:rPr>
              <a:t>开源促进行业</a:t>
            </a:r>
            <a:r>
              <a:rPr lang="zh-CN" altLang="en-US" sz="950" dirty="0">
                <a:solidFill>
                  <a:srgbClr val="59636F"/>
                </a:solidFill>
              </a:rPr>
              <a:t>发展</a:t>
            </a:r>
            <a:endParaRPr lang="zh-CN" altLang="en-US" sz="950" dirty="0">
              <a:solidFill>
                <a:srgbClr val="59636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777240" cy="32004"/>
          </a:xfrm>
          <a:prstGeom prst="rect">
            <a:avLst/>
          </a:prstGeom>
          <a:solidFill>
            <a:srgbClr val="1B6B6F"/>
          </a:solidFill>
          <a:ln w="12700">
            <a:solidFill>
              <a:srgbClr val="1B6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</a:rPr>
              <a:t>12</a:t>
            </a:r>
            <a:endParaRPr lang="en-US" sz="800" dirty="0"/>
          </a:p>
        </p:txBody>
      </p:sp>
      <p:sp>
        <p:nvSpPr>
          <p:cNvPr id="47" name="文本框 46"/>
          <p:cNvSpPr txBox="1"/>
          <p:nvPr>
            <p:custDataLst>
              <p:tags r:id="rId1"/>
            </p:custDataLst>
          </p:nvPr>
        </p:nvSpPr>
        <p:spPr>
          <a:xfrm>
            <a:off x="1280795" y="1534795"/>
            <a:ext cx="42894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zh-CN" altLang="en-US" sz="2400" dirty="0">
                <a:solidFill>
                  <a:srgbClr val="FF0000"/>
                </a:solidFill>
                <a:uFillTx/>
                <a:latin typeface="MiSans Heavy" panose="00000A00000000000000" charset="-122"/>
                <a:ea typeface="MiSans Heavy" panose="00000A00000000000000" charset="-122"/>
                <a:sym typeface="MiSans Heavy" panose="00000A00000000000000" charset="-122"/>
              </a:rPr>
              <a:t>开放开源</a:t>
            </a:r>
            <a:r>
              <a:rPr lang="zh-CN" altLang="en-US" sz="2400" dirty="0">
                <a:solidFill>
                  <a:srgbClr val="FF0000"/>
                </a:solidFill>
                <a:uFillTx/>
                <a:latin typeface="MiSans Heavy" panose="00000A00000000000000" charset="-122"/>
                <a:ea typeface="MiSans Heavy" panose="00000A00000000000000" charset="-122"/>
                <a:sym typeface="MiSans Heavy" panose="00000A00000000000000" charset="-122"/>
              </a:rPr>
              <a:t>共享</a:t>
            </a:r>
            <a:endParaRPr lang="zh-CN" altLang="en-US" sz="2400" dirty="0">
              <a:solidFill>
                <a:srgbClr val="FF0000"/>
              </a:solidFill>
              <a:uFillTx/>
              <a:latin typeface="MiSans Heavy" panose="00000A00000000000000" charset="-122"/>
              <a:ea typeface="MiSans Heavy" panose="00000A00000000000000" charset="-122"/>
              <a:sym typeface="MiSans Heavy" panose="00000A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80795" y="2007235"/>
            <a:ext cx="452437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目前所有开发算法均已</a:t>
            </a:r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开源</a:t>
            </a:r>
            <a:endParaRPr lang="zh-CN" altLang="en-US" sz="2000" dirty="0">
              <a:solidFill>
                <a:schemeClr val="accent1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  <a:sym typeface="MiSans Heavy" panose="00000A00000000000000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开源地址：</a:t>
            </a:r>
            <a:r>
              <a:rPr lang="en-US" altLang="zh-CN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gitee.com/cangyeone</a:t>
            </a:r>
            <a:endParaRPr lang="en-US" altLang="zh-CN" sz="2000" dirty="0">
              <a:solidFill>
                <a:schemeClr val="accent1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  <a:sym typeface="MiSans Heavy" panose="00000A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280795" y="3458845"/>
            <a:ext cx="42894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zh-CN" altLang="en-US" sz="2400" dirty="0">
                <a:solidFill>
                  <a:srgbClr val="FF0000"/>
                </a:solidFill>
                <a:uFillTx/>
                <a:latin typeface="MiSans Heavy" panose="00000A00000000000000" charset="-122"/>
                <a:ea typeface="MiSans Heavy" panose="00000A00000000000000" charset="-122"/>
                <a:sym typeface="MiSans Heavy" panose="00000A00000000000000" charset="-122"/>
              </a:rPr>
              <a:t>支持地震智能算法</a:t>
            </a:r>
            <a:r>
              <a:rPr lang="zh-CN" altLang="en-US" sz="2400" dirty="0">
                <a:solidFill>
                  <a:srgbClr val="FF0000"/>
                </a:solidFill>
                <a:uFillTx/>
                <a:latin typeface="MiSans Heavy" panose="00000A00000000000000" charset="-122"/>
                <a:ea typeface="MiSans Heavy" panose="00000A00000000000000" charset="-122"/>
                <a:sym typeface="MiSans Heavy" panose="00000A00000000000000" charset="-122"/>
              </a:rPr>
              <a:t>研究</a:t>
            </a:r>
            <a:endParaRPr lang="zh-CN" altLang="en-US" sz="2400" dirty="0">
              <a:solidFill>
                <a:srgbClr val="FF0000"/>
              </a:solidFill>
              <a:uFillTx/>
              <a:latin typeface="MiSans Heavy" panose="00000A00000000000000" charset="-122"/>
              <a:ea typeface="MiSans Heavy" panose="00000A00000000000000" charset="-122"/>
              <a:sym typeface="MiSans Heavy" panose="00000A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280795" y="3931285"/>
            <a:ext cx="452437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自行制作的数据集已</a:t>
            </a:r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公开</a:t>
            </a:r>
            <a:endParaRPr lang="zh-CN" altLang="en-US" sz="2000" dirty="0">
              <a:solidFill>
                <a:schemeClr val="accent1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  <a:sym typeface="MiSans Heavy" panose="00000A00000000000000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使用者可以使用全套工具方便</a:t>
            </a:r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进行</a:t>
            </a:r>
            <a:endParaRPr lang="zh-CN" altLang="en-US" sz="2000" dirty="0">
              <a:solidFill>
                <a:schemeClr val="accent1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  <a:sym typeface="MiSans Heavy" panose="00000A00000000000000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模型训练、测试、对比</a:t>
            </a:r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分析</a:t>
            </a:r>
            <a:endParaRPr lang="en-US" altLang="zh-CN" sz="2000" dirty="0">
              <a:solidFill>
                <a:schemeClr val="accent1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  <a:sym typeface="MiSans Heavy" panose="00000A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7146925" y="1504950"/>
            <a:ext cx="42894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zh-CN" altLang="en-US" sz="2400" dirty="0">
                <a:solidFill>
                  <a:srgbClr val="FF0000"/>
                </a:solidFill>
                <a:uFillTx/>
                <a:latin typeface="MiSans Heavy" panose="00000A00000000000000" charset="-122"/>
                <a:ea typeface="MiSans Heavy" panose="00000A00000000000000" charset="-122"/>
                <a:sym typeface="MiSans Heavy" panose="00000A00000000000000" charset="-122"/>
              </a:rPr>
              <a:t>合作</a:t>
            </a:r>
            <a:r>
              <a:rPr lang="zh-CN" altLang="en-US" sz="2400" dirty="0">
                <a:solidFill>
                  <a:srgbClr val="FF0000"/>
                </a:solidFill>
                <a:uFillTx/>
                <a:latin typeface="MiSans Heavy" panose="00000A00000000000000" charset="-122"/>
                <a:ea typeface="MiSans Heavy" panose="00000A00000000000000" charset="-122"/>
                <a:sym typeface="MiSans Heavy" panose="00000A00000000000000" charset="-122"/>
              </a:rPr>
              <a:t>共赢</a:t>
            </a:r>
            <a:endParaRPr lang="zh-CN" altLang="en-US" sz="2400" dirty="0">
              <a:solidFill>
                <a:srgbClr val="FF0000"/>
              </a:solidFill>
              <a:uFillTx/>
              <a:latin typeface="MiSans Heavy" panose="00000A00000000000000" charset="-122"/>
              <a:ea typeface="MiSans Heavy" panose="00000A00000000000000" charset="-122"/>
              <a:sym typeface="MiSans Heavy" panose="00000A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146925" y="1977390"/>
            <a:ext cx="452437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0">
                <a:ln w="3175">
                  <a:noFill/>
                </a:ln>
                <a:solidFill>
                  <a:schemeClr val="bg1"/>
                </a:solidFill>
                <a:latin typeface="Montserrat Black" panose="00000A00000000000000" pitchFamily="2" charset="0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我们多个单位合作将算法、模型集成到平台</a:t>
            </a:r>
            <a:r>
              <a:rPr lang="zh-CN" altLang="en-US" sz="2000" dirty="0">
                <a:solidFill>
                  <a:schemeClr val="accent1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rPr>
              <a:t>中。</a:t>
            </a:r>
            <a:endParaRPr lang="zh-CN" altLang="en-US" sz="2000" dirty="0">
              <a:solidFill>
                <a:schemeClr val="accent1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  <a:sym typeface="MiSans Heavy" panose="00000A00000000000000" charset="-122"/>
            </a:endParaRPr>
          </a:p>
        </p:txBody>
      </p:sp>
      <p:pic>
        <p:nvPicPr>
          <p:cNvPr id="11" name="图片 10" descr="结构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395" y="1585595"/>
            <a:ext cx="914400" cy="914400"/>
          </a:xfrm>
          <a:prstGeom prst="rect">
            <a:avLst/>
          </a:prstGeom>
        </p:spPr>
      </p:pic>
      <p:pic>
        <p:nvPicPr>
          <p:cNvPr id="12" name="图片 11" descr="答辩小组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8545" y="1538605"/>
            <a:ext cx="914400" cy="914400"/>
          </a:xfrm>
          <a:prstGeom prst="rect">
            <a:avLst/>
          </a:prstGeom>
        </p:spPr>
      </p:pic>
      <p:pic>
        <p:nvPicPr>
          <p:cNvPr id="13" name="图片 12" descr="系统学习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395" y="3693160"/>
            <a:ext cx="914400" cy="9144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556000" y="58613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chemeClr val="bg1">
                    <a:lumMod val="50000"/>
                  </a:schemeClr>
                </a:solidFill>
                <a:latin typeface="苹方" charset="0"/>
                <a:ea typeface="Source Sans Pro"/>
                <a:cs typeface="苹方" charset="0"/>
              </a:rPr>
              <a:t>Built with </a:t>
            </a:r>
            <a:r>
              <a:rPr lang="en-US" altLang="zh-CN" sz="1600" b="0" i="0">
                <a:solidFill>
                  <a:srgbClr val="FF0000"/>
                </a:solidFill>
                <a:latin typeface="苹方" charset="0"/>
                <a:ea typeface="Source Sans Pro"/>
                <a:cs typeface="苹方" charset="0"/>
              </a:rPr>
              <a:t>❤️</a:t>
            </a:r>
            <a:r>
              <a:rPr lang="en-US" altLang="zh-CN" sz="1600" b="0" i="0">
                <a:solidFill>
                  <a:schemeClr val="bg1">
                    <a:lumMod val="50000"/>
                  </a:schemeClr>
                </a:solidFill>
                <a:latin typeface="苹方" charset="0"/>
                <a:ea typeface="Source Sans Pro"/>
                <a:cs typeface="苹方" charset="0"/>
              </a:rPr>
              <a:t> for the seismology community</a:t>
            </a:r>
            <a:endParaRPr lang="en-US" altLang="zh-CN" sz="1600" b="0" i="0">
              <a:solidFill>
                <a:schemeClr val="bg1">
                  <a:lumMod val="50000"/>
                </a:schemeClr>
              </a:solidFill>
              <a:latin typeface="苹方" charset="0"/>
              <a:ea typeface="Source Sans Pro"/>
              <a:cs typeface="苹方" charset="0"/>
            </a:endParaRPr>
          </a:p>
        </p:txBody>
      </p:sp>
      <p:pic>
        <p:nvPicPr>
          <p:cNvPr id="16" name="图片 15" descr="qrcode_1778139958164"/>
          <p:cNvPicPr>
            <a:picLocks noChangeAspect="1"/>
          </p:cNvPicPr>
          <p:nvPr/>
        </p:nvPicPr>
        <p:blipFill>
          <a:blip r:embed="rId13"/>
          <a:srcRect l="5332" t="14537" r="3764" b="24047"/>
          <a:stretch>
            <a:fillRect/>
          </a:stretch>
        </p:blipFill>
        <p:spPr>
          <a:xfrm>
            <a:off x="8636000" y="2552065"/>
            <a:ext cx="2511425" cy="30251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64592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1248" y="1261872"/>
            <a:ext cx="868680" cy="32004"/>
          </a:xfrm>
          <a:prstGeom prst="rect">
            <a:avLst/>
          </a:prstGeom>
          <a:solidFill>
            <a:srgbClr val="C8872B"/>
          </a:solidFill>
          <a:ln w="12700">
            <a:solidFill>
              <a:srgbClr val="C887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874520"/>
            <a:ext cx="8961120" cy="475488"/>
          </a:xfrm>
          <a:prstGeom prst="roundRect">
            <a:avLst>
              <a:gd name="adj" fmla="val 15385"/>
            </a:avLst>
          </a:prstGeom>
          <a:solidFill>
            <a:srgbClr val="263544"/>
          </a:solidFill>
          <a:ln w="7620">
            <a:solidFill>
              <a:srgbClr val="2635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029968"/>
            <a:ext cx="2743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20" y="1993392"/>
            <a:ext cx="749808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自动化扩容解决了“看见更多事件”，但也引入了误检、误关联和弱约束事件。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8961120" cy="475488"/>
          </a:xfrm>
          <a:prstGeom prst="roundRect">
            <a:avLst>
              <a:gd name="adj" fmla="val 15385"/>
            </a:avLst>
          </a:prstGeom>
          <a:solidFill>
            <a:srgbClr val="263544"/>
          </a:solidFill>
          <a:ln w="7620">
            <a:solidFill>
              <a:srgbClr val="263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852928"/>
            <a:ext cx="2743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2816352"/>
            <a:ext cx="749808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多震相拾取与 SeismicXM 提供更强的波形入口，可信目录仍需要定位阶段的不确定性判别。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3520440"/>
            <a:ext cx="8961120" cy="475488"/>
          </a:xfrm>
          <a:prstGeom prst="roundRect">
            <a:avLst>
              <a:gd name="adj" fmla="val 15385"/>
            </a:avLst>
          </a:prstGeom>
          <a:solidFill>
            <a:srgbClr val="263544"/>
          </a:solidFill>
          <a:ln w="7620">
            <a:solidFill>
              <a:srgbClr val="2635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675888"/>
            <a:ext cx="2743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3639312"/>
            <a:ext cx="749808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后验不确定性可以成为事件筛选、目录保留和结构解释前质量控制的统一语言。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4343400"/>
            <a:ext cx="8961120" cy="475488"/>
          </a:xfrm>
          <a:prstGeom prst="roundRect">
            <a:avLst>
              <a:gd name="adj" fmla="val 15385"/>
            </a:avLst>
          </a:prstGeom>
          <a:solidFill>
            <a:srgbClr val="263544"/>
          </a:solidFill>
          <a:ln w="7620">
            <a:solidFill>
              <a:srgbClr val="263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498848"/>
            <a:ext cx="27432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74520" y="4462272"/>
            <a:ext cx="749808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SAGE 可把这一流程压缩成对话式、可执行、可追溯的研究生产链。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46920" y="5897880"/>
            <a:ext cx="1188720" cy="292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8872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9636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2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3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4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5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6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7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8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9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0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1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2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3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4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5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6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7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8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19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20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21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22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23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24.xml><?xml version="1.0" encoding="utf-8"?>
<p:tagLst xmlns:p="http://schemas.openxmlformats.org/presentationml/2006/main">
  <p:tag name="KSO_WM_DIAGRAM_VIRTUALLY_FRAME" val="{&quot;height&quot;:122.4,&quot;left&quot;:54,&quot;top&quot;:158.4,&quot;width&quot;:761.7599999999999}"/>
</p:tagLst>
</file>

<file path=ppt/tags/tag25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26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27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28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29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0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1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2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3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4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5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6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7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8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39.xml><?xml version="1.0" encoding="utf-8"?>
<p:tagLst xmlns:p="http://schemas.openxmlformats.org/presentationml/2006/main">
  <p:tag name="KSO_WM_DIAGRAM_VIRTUALLY_FRAME" val="{&quot;height&quot;:183.6,&quot;left&quot;:54,&quot;top&quot;:158.4,&quot;width&quot;:761.76}"/>
</p:tagLst>
</file>

<file path=ppt/tags/tag40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41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42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43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44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45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46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47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48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49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0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1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2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3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4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5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6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7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8.xml><?xml version="1.0" encoding="utf-8"?>
<p:tagLst xmlns:p="http://schemas.openxmlformats.org/presentationml/2006/main">
  <p:tag name="KSO_WM_DIAGRAM_VIRTUALLY_FRAME" val="{&quot;height&quot;:352.1,&quot;left&quot;:67.75,&quot;top&quot;:124.95,&quot;width&quot;:791.35}"/>
</p:tagLst>
</file>

<file path=ppt/tags/tag59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0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1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2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3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4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5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6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7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8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69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70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71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72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73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74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75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76.xml><?xml version="1.0" encoding="utf-8"?>
<p:tagLst xmlns:p="http://schemas.openxmlformats.org/presentationml/2006/main">
  <p:tag name="KSO_WM_DIAGRAM_VIRTUALLY_FRAME" val="{&quot;height&quot;:203.04000000000002,&quot;left&quot;:191.5,&quot;top&quot;:133.2,&quot;width&quot;:539.3}"/>
</p:tagLst>
</file>

<file path=ppt/tags/tag77.xml><?xml version="1.0" encoding="utf-8"?>
<p:tagLst xmlns:p="http://schemas.openxmlformats.org/presentationml/2006/main">
  <p:tag name="KSO_WM_BEAUTIFY_FLAG" val=""/>
  <p:tag name="KSO_WM_DIAGRAM_VIRTUALLY_FRAME" val="{&quot;height&quot;:329.95,&quot;left&quot;:27.999921259842516,&quot;top&quot;:74.6,&quot;width&quot;:888.2500787401575}"/>
</p:tagLst>
</file>

<file path=ppt/tags/tag78.xml><?xml version="1.0" encoding="utf-8"?>
<p:tagLst xmlns:p="http://schemas.openxmlformats.org/presentationml/2006/main">
  <p:tag name="KSO_WM_DIAGRAM_VIRTUALLY_FRAME" val="{&quot;height&quot;:329.95,&quot;left&quot;:27.999921259842516,&quot;top&quot;:74.6,&quot;width&quot;:888.2500787401575}"/>
</p:tagLst>
</file>

<file path=ppt/tags/tag79.xml><?xml version="1.0" encoding="utf-8"?>
<p:tagLst xmlns:p="http://schemas.openxmlformats.org/presentationml/2006/main">
  <p:tag name="KSO_WM_BEAUTIFY_FLAG" val=""/>
  <p:tag name="KSO_WM_DIAGRAM_VIRTUALLY_FRAME" val="{&quot;height&quot;:329.95,&quot;left&quot;:27.999921259842516,&quot;top&quot;:74.6,&quot;width&quot;:888.2500787401575}"/>
</p:tagLst>
</file>

<file path=ppt/tags/tag80.xml><?xml version="1.0" encoding="utf-8"?>
<p:tagLst xmlns:p="http://schemas.openxmlformats.org/presentationml/2006/main">
  <p:tag name="KSO_WM_DIAGRAM_VIRTUALLY_FRAME" val="{&quot;height&quot;:329.95,&quot;left&quot;:27.999921259842516,&quot;top&quot;:74.6,&quot;width&quot;:888.2500787401575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329.95,&quot;left&quot;:27.999921259842516,&quot;top&quot;:74.6,&quot;width&quot;:888.2500787401575}"/>
</p:tagLst>
</file>

<file path=ppt/tags/tag82.xml><?xml version="1.0" encoding="utf-8"?>
<p:tagLst xmlns:p="http://schemas.openxmlformats.org/presentationml/2006/main">
  <p:tag name="KSO_WM_DIAGRAM_VIRTUALLY_FRAME" val="{&quot;height&quot;:329.95,&quot;left&quot;:27.999921259842516,&quot;top&quot;:74.6,&quot;width&quot;:888.25007874015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3592</Words>
  <Application>WPS 演示</Application>
  <PresentationFormat>On-screen Show (16:9)</PresentationFormat>
  <Paragraphs>499</Paragraphs>
  <Slides>23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51" baseType="lpstr">
      <vt:lpstr>Arial</vt:lpstr>
      <vt:lpstr>宋体</vt:lpstr>
      <vt:lpstr>Wingdings</vt:lpstr>
      <vt:lpstr>PingFang SC</vt:lpstr>
      <vt:lpstr>PingFang SC</vt:lpstr>
      <vt:lpstr>等线</vt:lpstr>
      <vt:lpstr>汉仪中等线KW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Montserrat Black</vt:lpstr>
      <vt:lpstr>苹方-简</vt:lpstr>
      <vt:lpstr>MiSans Heavy</vt:lpstr>
      <vt:lpstr>Source Sans Pro</vt:lpstr>
      <vt:lpstr>Thonburi</vt:lpstr>
      <vt:lpstr>Apple Color Emoji</vt:lpstr>
      <vt:lpstr>Source Sans Pro</vt:lpstr>
      <vt:lpstr>苹方</vt:lpstr>
      <vt:lpstr>等线</vt:lpstr>
      <vt:lpstr>黑体</vt:lpstr>
      <vt:lpstr>Times New Roman</vt:lpstr>
      <vt:lpstr>汉仪中黑KW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SAGE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从自动编目到可信地震目录</dc:title>
  <dc:creator>Codex</dc:creator>
  <dc:subject>可信地震目录报告</dc:subject>
  <cp:lastModifiedBy>沧夜</cp:lastModifiedBy>
  <cp:revision>15</cp:revision>
  <dcterms:created xsi:type="dcterms:W3CDTF">2026-05-07T08:02:15Z</dcterms:created>
  <dcterms:modified xsi:type="dcterms:W3CDTF">2026-05-07T08:02:15Z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3CC1DEAABABE6808AF3CFC69C06B1008_43</vt:lpwstr>
  </property>
</Properties>
</file>